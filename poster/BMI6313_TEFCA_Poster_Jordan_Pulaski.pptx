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43891200" cy="32918400"/>
  <p:notesSz cx="21482050" cy="32454850"/>
  <p:custDataLst>
    <p:tags r:id="rId4"/>
  </p:custDataLst>
  <p:defaultTextStyle>
    <a:defPPr>
      <a:defRPr lang="en-US"/>
    </a:defPPr>
    <a:lvl1pPr algn="l" rtl="0" fontAlgn="base">
      <a:spcBef>
        <a:spcPct val="0"/>
      </a:spcBef>
      <a:spcAft>
        <a:spcPct val="0"/>
      </a:spcAft>
      <a:defRPr sz="6800" kern="1200">
        <a:solidFill>
          <a:schemeClr val="tx1"/>
        </a:solidFill>
        <a:latin typeface="Arial" charset="0"/>
        <a:ea typeface="+mn-ea"/>
        <a:cs typeface="+mn-cs"/>
      </a:defRPr>
    </a:lvl1pPr>
    <a:lvl2pPr marL="504382" algn="l" rtl="0" fontAlgn="base">
      <a:spcBef>
        <a:spcPct val="0"/>
      </a:spcBef>
      <a:spcAft>
        <a:spcPct val="0"/>
      </a:spcAft>
      <a:defRPr sz="6800" kern="1200">
        <a:solidFill>
          <a:schemeClr val="tx1"/>
        </a:solidFill>
        <a:latin typeface="Arial" charset="0"/>
        <a:ea typeface="+mn-ea"/>
        <a:cs typeface="+mn-cs"/>
      </a:defRPr>
    </a:lvl2pPr>
    <a:lvl3pPr marL="1008765" algn="l" rtl="0" fontAlgn="base">
      <a:spcBef>
        <a:spcPct val="0"/>
      </a:spcBef>
      <a:spcAft>
        <a:spcPct val="0"/>
      </a:spcAft>
      <a:defRPr sz="6800" kern="1200">
        <a:solidFill>
          <a:schemeClr val="tx1"/>
        </a:solidFill>
        <a:latin typeface="Arial" charset="0"/>
        <a:ea typeface="+mn-ea"/>
        <a:cs typeface="+mn-cs"/>
      </a:defRPr>
    </a:lvl3pPr>
    <a:lvl4pPr marL="1513147" algn="l" rtl="0" fontAlgn="base">
      <a:spcBef>
        <a:spcPct val="0"/>
      </a:spcBef>
      <a:spcAft>
        <a:spcPct val="0"/>
      </a:spcAft>
      <a:defRPr sz="6800" kern="1200">
        <a:solidFill>
          <a:schemeClr val="tx1"/>
        </a:solidFill>
        <a:latin typeface="Arial" charset="0"/>
        <a:ea typeface="+mn-ea"/>
        <a:cs typeface="+mn-cs"/>
      </a:defRPr>
    </a:lvl4pPr>
    <a:lvl5pPr marL="2017529" algn="l" rtl="0" fontAlgn="base">
      <a:spcBef>
        <a:spcPct val="0"/>
      </a:spcBef>
      <a:spcAft>
        <a:spcPct val="0"/>
      </a:spcAft>
      <a:defRPr sz="6800" kern="1200">
        <a:solidFill>
          <a:schemeClr val="tx1"/>
        </a:solidFill>
        <a:latin typeface="Arial" charset="0"/>
        <a:ea typeface="+mn-ea"/>
        <a:cs typeface="+mn-cs"/>
      </a:defRPr>
    </a:lvl5pPr>
    <a:lvl6pPr marL="2521911" algn="l" defTabSz="1008765" rtl="0" eaLnBrk="1" latinLnBrk="0" hangingPunct="1">
      <a:defRPr sz="6800" kern="1200">
        <a:solidFill>
          <a:schemeClr val="tx1"/>
        </a:solidFill>
        <a:latin typeface="Arial" charset="0"/>
        <a:ea typeface="+mn-ea"/>
        <a:cs typeface="+mn-cs"/>
      </a:defRPr>
    </a:lvl6pPr>
    <a:lvl7pPr marL="3026294" algn="l" defTabSz="1008765" rtl="0" eaLnBrk="1" latinLnBrk="0" hangingPunct="1">
      <a:defRPr sz="6800" kern="1200">
        <a:solidFill>
          <a:schemeClr val="tx1"/>
        </a:solidFill>
        <a:latin typeface="Arial" charset="0"/>
        <a:ea typeface="+mn-ea"/>
        <a:cs typeface="+mn-cs"/>
      </a:defRPr>
    </a:lvl7pPr>
    <a:lvl8pPr marL="3530676" algn="l" defTabSz="1008765" rtl="0" eaLnBrk="1" latinLnBrk="0" hangingPunct="1">
      <a:defRPr sz="6800" kern="1200">
        <a:solidFill>
          <a:schemeClr val="tx1"/>
        </a:solidFill>
        <a:latin typeface="Arial" charset="0"/>
        <a:ea typeface="+mn-ea"/>
        <a:cs typeface="+mn-cs"/>
      </a:defRPr>
    </a:lvl8pPr>
    <a:lvl9pPr marL="4035058" algn="l" defTabSz="1008765" rtl="0" eaLnBrk="1" latinLnBrk="0" hangingPunct="1">
      <a:defRPr sz="68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9936">
          <p15:clr>
            <a:srgbClr val="A4A3A4"/>
          </p15:clr>
        </p15:guide>
        <p15:guide id="2" orient="horz" pos="20304">
          <p15:clr>
            <a:srgbClr val="A4A3A4"/>
          </p15:clr>
        </p15:guide>
        <p15:guide id="3" orient="horz" pos="432">
          <p15:clr>
            <a:srgbClr val="A4A3A4"/>
          </p15:clr>
        </p15:guide>
        <p15:guide id="4" orient="horz" pos="3672">
          <p15:clr>
            <a:srgbClr val="A4A3A4"/>
          </p15:clr>
        </p15:guide>
        <p15:guide id="5" orient="horz" pos="1766">
          <p15:clr>
            <a:srgbClr val="A4A3A4"/>
          </p15:clr>
        </p15:guide>
        <p15:guide id="6" pos="384">
          <p15:clr>
            <a:srgbClr val="A4A3A4"/>
          </p15:clr>
        </p15:guide>
        <p15:guide id="7" pos="27264">
          <p15:clr>
            <a:srgbClr val="A4A3A4"/>
          </p15:clr>
        </p15:guide>
        <p15:guide id="8" pos="6144">
          <p15:clr>
            <a:srgbClr val="A4A3A4"/>
          </p15:clr>
        </p15:guide>
        <p15:guide id="9" pos="15744">
          <p15:clr>
            <a:srgbClr val="A4A3A4"/>
          </p15:clr>
        </p15:guide>
        <p15:guide id="10" pos="21504">
          <p15:clr>
            <a:srgbClr val="A4A3A4"/>
          </p15:clr>
        </p15:guide>
        <p15:guide id="11" pos="7488">
          <p15:clr>
            <a:srgbClr val="A4A3A4"/>
          </p15:clr>
        </p15:guide>
        <p15:guide id="12" pos="14400">
          <p15:clr>
            <a:srgbClr val="A4A3A4"/>
          </p15:clr>
        </p15:guide>
      </p15:sldGuideLst>
    </p:ext>
    <p:ext uri="{2D200454-40CA-4A62-9FC3-DE9A4176ACB9}">
      <p15:notesGuideLst xmlns:p15="http://schemas.microsoft.com/office/powerpoint/2012/main">
        <p15:guide id="1" orient="horz" pos="10222">
          <p15:clr>
            <a:srgbClr val="A4A3A4"/>
          </p15:clr>
        </p15:guide>
        <p15:guide id="2" pos="676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4F5"/>
    <a:srgbClr val="CAE8AA"/>
    <a:srgbClr val="A3E7FF"/>
    <a:srgbClr val="79DCFF"/>
    <a:srgbClr val="FFE79B"/>
    <a:srgbClr val="CB521E"/>
    <a:srgbClr val="AE6042"/>
    <a:srgbClr val="44697D"/>
    <a:srgbClr val="C15017"/>
    <a:srgbClr val="BD4F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92482" autoAdjust="0"/>
  </p:normalViewPr>
  <p:slideViewPr>
    <p:cSldViewPr>
      <p:cViewPr>
        <p:scale>
          <a:sx n="10" d="100"/>
          <a:sy n="10" d="100"/>
        </p:scale>
        <p:origin x="1840" y="296"/>
      </p:cViewPr>
      <p:guideLst>
        <p:guide orient="horz" pos="9936"/>
        <p:guide orient="horz" pos="20304"/>
        <p:guide orient="horz" pos="432"/>
        <p:guide orient="horz" pos="3672"/>
        <p:guide orient="horz" pos="1766"/>
        <p:guide pos="384"/>
        <p:guide pos="27264"/>
        <p:guide pos="6144"/>
        <p:guide pos="15744"/>
        <p:guide pos="21504"/>
        <p:guide pos="7488"/>
        <p:guide pos="14400"/>
      </p:guideLst>
    </p:cSldViewPr>
  </p:slideViewPr>
  <p:notesTextViewPr>
    <p:cViewPr>
      <p:scale>
        <a:sx n="100" d="100"/>
        <a:sy n="100" d="100"/>
      </p:scale>
      <p:origin x="0" y="0"/>
    </p:cViewPr>
  </p:notesTextViewPr>
  <p:notesViewPr>
    <p:cSldViewPr>
      <p:cViewPr varScale="1">
        <p:scale>
          <a:sx n="24" d="100"/>
          <a:sy n="24" d="100"/>
        </p:scale>
        <p:origin x="-4044" y="-108"/>
      </p:cViewPr>
      <p:guideLst>
        <p:guide orient="horz" pos="10222"/>
        <p:guide pos="6766"/>
      </p:guideLst>
    </p:cSldViewPr>
  </p:notesViewPr>
  <p:gridSpacing cx="228600" cy="2286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9309100" cy="1622425"/>
          </a:xfrm>
          <a:prstGeom prst="rect">
            <a:avLst/>
          </a:prstGeom>
          <a:noFill/>
          <a:ln w="9525">
            <a:noFill/>
            <a:miter lim="800000"/>
            <a:headEnd/>
            <a:tailEnd/>
          </a:ln>
          <a:effectLst/>
        </p:spPr>
        <p:txBody>
          <a:bodyPr vert="horz" wrap="square" lIns="308208" tIns="154104" rIns="308208" bIns="154104" numCol="1" anchor="t" anchorCtr="0" compatLnSpc="1">
            <a:prstTxWarp prst="textNoShape">
              <a:avLst/>
            </a:prstTxWarp>
          </a:bodyPr>
          <a:lstStyle>
            <a:lvl1pPr>
              <a:defRPr sz="4000"/>
            </a:lvl1pPr>
          </a:lstStyle>
          <a:p>
            <a:pPr>
              <a:defRPr/>
            </a:pPr>
            <a:endParaRPr lang="en-US"/>
          </a:p>
        </p:txBody>
      </p:sp>
      <p:sp>
        <p:nvSpPr>
          <p:cNvPr id="3075" name="Rectangle 3"/>
          <p:cNvSpPr>
            <a:spLocks noGrp="1" noChangeArrowheads="1"/>
          </p:cNvSpPr>
          <p:nvPr>
            <p:ph type="dt" idx="1"/>
          </p:nvPr>
        </p:nvSpPr>
        <p:spPr bwMode="auto">
          <a:xfrm>
            <a:off x="12168188" y="0"/>
            <a:ext cx="9309100" cy="1622425"/>
          </a:xfrm>
          <a:prstGeom prst="rect">
            <a:avLst/>
          </a:prstGeom>
          <a:noFill/>
          <a:ln w="9525">
            <a:noFill/>
            <a:miter lim="800000"/>
            <a:headEnd/>
            <a:tailEnd/>
          </a:ln>
          <a:effectLst/>
        </p:spPr>
        <p:txBody>
          <a:bodyPr vert="horz" wrap="square" lIns="308208" tIns="154104" rIns="308208" bIns="154104" numCol="1" anchor="t" anchorCtr="0" compatLnSpc="1">
            <a:prstTxWarp prst="textNoShape">
              <a:avLst/>
            </a:prstTxWarp>
          </a:bodyPr>
          <a:lstStyle>
            <a:lvl1pPr algn="r">
              <a:defRPr sz="4000"/>
            </a:lvl1pPr>
          </a:lstStyle>
          <a:p>
            <a:pPr>
              <a:defRPr/>
            </a:pPr>
            <a:endParaRPr lang="en-US"/>
          </a:p>
        </p:txBody>
      </p:sp>
      <p:sp>
        <p:nvSpPr>
          <p:cNvPr id="3076" name="Rectangle 4"/>
          <p:cNvSpPr>
            <a:spLocks noGrp="1" noRot="1" noChangeAspect="1" noChangeArrowheads="1" noTextEdit="1"/>
          </p:cNvSpPr>
          <p:nvPr>
            <p:ph type="sldImg" idx="2"/>
          </p:nvPr>
        </p:nvSpPr>
        <p:spPr bwMode="auto">
          <a:xfrm>
            <a:off x="2627313" y="2433638"/>
            <a:ext cx="16227425" cy="12171362"/>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2147888" y="15416213"/>
            <a:ext cx="17186275" cy="14605000"/>
          </a:xfrm>
          <a:prstGeom prst="rect">
            <a:avLst/>
          </a:prstGeom>
          <a:noFill/>
          <a:ln w="9525">
            <a:noFill/>
            <a:miter lim="800000"/>
            <a:headEnd/>
            <a:tailEnd/>
          </a:ln>
          <a:effectLst/>
        </p:spPr>
        <p:txBody>
          <a:bodyPr vert="horz" wrap="square" lIns="308208" tIns="154104" rIns="308208" bIns="15410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30826075"/>
            <a:ext cx="9309100" cy="1622425"/>
          </a:xfrm>
          <a:prstGeom prst="rect">
            <a:avLst/>
          </a:prstGeom>
          <a:noFill/>
          <a:ln w="9525">
            <a:noFill/>
            <a:miter lim="800000"/>
            <a:headEnd/>
            <a:tailEnd/>
          </a:ln>
          <a:effectLst/>
        </p:spPr>
        <p:txBody>
          <a:bodyPr vert="horz" wrap="square" lIns="308208" tIns="154104" rIns="308208" bIns="154104" numCol="1" anchor="b" anchorCtr="0" compatLnSpc="1">
            <a:prstTxWarp prst="textNoShape">
              <a:avLst/>
            </a:prstTxWarp>
          </a:bodyPr>
          <a:lstStyle>
            <a:lvl1pPr>
              <a:defRPr sz="4000"/>
            </a:lvl1pPr>
          </a:lstStyle>
          <a:p>
            <a:pPr>
              <a:defRPr/>
            </a:pPr>
            <a:endParaRPr lang="en-US"/>
          </a:p>
        </p:txBody>
      </p:sp>
      <p:sp>
        <p:nvSpPr>
          <p:cNvPr id="3079" name="Rectangle 7"/>
          <p:cNvSpPr>
            <a:spLocks noGrp="1" noChangeArrowheads="1"/>
          </p:cNvSpPr>
          <p:nvPr>
            <p:ph type="sldNum" sz="quarter" idx="5"/>
          </p:nvPr>
        </p:nvSpPr>
        <p:spPr bwMode="auto">
          <a:xfrm>
            <a:off x="12168188" y="30826075"/>
            <a:ext cx="9309100" cy="1622425"/>
          </a:xfrm>
          <a:prstGeom prst="rect">
            <a:avLst/>
          </a:prstGeom>
          <a:noFill/>
          <a:ln w="9525">
            <a:noFill/>
            <a:miter lim="800000"/>
            <a:headEnd/>
            <a:tailEnd/>
          </a:ln>
          <a:effectLst/>
        </p:spPr>
        <p:txBody>
          <a:bodyPr vert="horz" wrap="square" lIns="308208" tIns="154104" rIns="308208" bIns="154104" numCol="1" anchor="b" anchorCtr="0" compatLnSpc="1">
            <a:prstTxWarp prst="textNoShape">
              <a:avLst/>
            </a:prstTxWarp>
          </a:bodyPr>
          <a:lstStyle>
            <a:lvl1pPr algn="r">
              <a:defRPr sz="4000"/>
            </a:lvl1pPr>
          </a:lstStyle>
          <a:p>
            <a:pPr>
              <a:defRPr/>
            </a:pPr>
            <a:fld id="{732CF5D4-B7C8-45C4-8D0E-09F4306A9ED5}" type="slidenum">
              <a:rPr lang="en-US"/>
              <a:pPr>
                <a:defRPr/>
              </a:pPr>
              <a:t>‹#›</a:t>
            </a:fld>
            <a:endParaRPr lang="en-US"/>
          </a:p>
        </p:txBody>
      </p:sp>
    </p:spTree>
    <p:extLst>
      <p:ext uri="{BB962C8B-B14F-4D97-AF65-F5344CB8AC3E}">
        <p14:creationId xmlns:p14="http://schemas.microsoft.com/office/powerpoint/2010/main" val="23294973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4382" algn="l" rtl="0" eaLnBrk="0" fontAlgn="base" hangingPunct="0">
      <a:spcBef>
        <a:spcPct val="30000"/>
      </a:spcBef>
      <a:spcAft>
        <a:spcPct val="0"/>
      </a:spcAft>
      <a:defRPr sz="1300" kern="1200">
        <a:solidFill>
          <a:schemeClr val="tx1"/>
        </a:solidFill>
        <a:latin typeface="Arial" charset="0"/>
        <a:ea typeface="+mn-ea"/>
        <a:cs typeface="+mn-cs"/>
      </a:defRPr>
    </a:lvl2pPr>
    <a:lvl3pPr marL="1008765" algn="l" rtl="0" eaLnBrk="0" fontAlgn="base" hangingPunct="0">
      <a:spcBef>
        <a:spcPct val="30000"/>
      </a:spcBef>
      <a:spcAft>
        <a:spcPct val="0"/>
      </a:spcAft>
      <a:defRPr sz="1300" kern="1200">
        <a:solidFill>
          <a:schemeClr val="tx1"/>
        </a:solidFill>
        <a:latin typeface="Arial" charset="0"/>
        <a:ea typeface="+mn-ea"/>
        <a:cs typeface="+mn-cs"/>
      </a:defRPr>
    </a:lvl3pPr>
    <a:lvl4pPr marL="1513147" algn="l" rtl="0" eaLnBrk="0" fontAlgn="base" hangingPunct="0">
      <a:spcBef>
        <a:spcPct val="30000"/>
      </a:spcBef>
      <a:spcAft>
        <a:spcPct val="0"/>
      </a:spcAft>
      <a:defRPr sz="1300" kern="1200">
        <a:solidFill>
          <a:schemeClr val="tx1"/>
        </a:solidFill>
        <a:latin typeface="Arial" charset="0"/>
        <a:ea typeface="+mn-ea"/>
        <a:cs typeface="+mn-cs"/>
      </a:defRPr>
    </a:lvl4pPr>
    <a:lvl5pPr marL="2017529" algn="l" rtl="0" eaLnBrk="0" fontAlgn="base" hangingPunct="0">
      <a:spcBef>
        <a:spcPct val="30000"/>
      </a:spcBef>
      <a:spcAft>
        <a:spcPct val="0"/>
      </a:spcAft>
      <a:defRPr sz="1300" kern="1200">
        <a:solidFill>
          <a:schemeClr val="tx1"/>
        </a:solidFill>
        <a:latin typeface="Arial" charset="0"/>
        <a:ea typeface="+mn-ea"/>
        <a:cs typeface="+mn-cs"/>
      </a:defRPr>
    </a:lvl5pPr>
    <a:lvl6pPr marL="2521911" algn="l" defTabSz="1008765" rtl="0" eaLnBrk="1" latinLnBrk="0" hangingPunct="1">
      <a:defRPr sz="1300" kern="1200">
        <a:solidFill>
          <a:schemeClr val="tx1"/>
        </a:solidFill>
        <a:latin typeface="+mn-lt"/>
        <a:ea typeface="+mn-ea"/>
        <a:cs typeface="+mn-cs"/>
      </a:defRPr>
    </a:lvl6pPr>
    <a:lvl7pPr marL="3026294" algn="l" defTabSz="1008765" rtl="0" eaLnBrk="1" latinLnBrk="0" hangingPunct="1">
      <a:defRPr sz="1300" kern="1200">
        <a:solidFill>
          <a:schemeClr val="tx1"/>
        </a:solidFill>
        <a:latin typeface="+mn-lt"/>
        <a:ea typeface="+mn-ea"/>
        <a:cs typeface="+mn-cs"/>
      </a:defRPr>
    </a:lvl7pPr>
    <a:lvl8pPr marL="3530676" algn="l" defTabSz="1008765" rtl="0" eaLnBrk="1" latinLnBrk="0" hangingPunct="1">
      <a:defRPr sz="1300" kern="1200">
        <a:solidFill>
          <a:schemeClr val="tx1"/>
        </a:solidFill>
        <a:latin typeface="+mn-lt"/>
        <a:ea typeface="+mn-ea"/>
        <a:cs typeface="+mn-cs"/>
      </a:defRPr>
    </a:lvl8pPr>
    <a:lvl9pPr marL="4035058" algn="l" defTabSz="1008765"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p>
            <a:fld id="{99143535-7622-448E-875F-352F29DE87A9}" type="slidenum">
              <a:rPr lang="en-US" smtClean="0"/>
              <a:pPr/>
              <a:t>1</a:t>
            </a:fld>
            <a:endParaRPr lang="en-US"/>
          </a:p>
        </p:txBody>
      </p:sp>
      <p:sp>
        <p:nvSpPr>
          <p:cNvPr id="4099" name="Rectangle 2"/>
          <p:cNvSpPr>
            <a:spLocks noGrp="1" noRot="1" noChangeAspect="1" noChangeArrowheads="1" noTextEdit="1"/>
          </p:cNvSpPr>
          <p:nvPr>
            <p:ph type="sldImg"/>
          </p:nvPr>
        </p:nvSpPr>
        <p:spPr>
          <a:xfrm>
            <a:off x="2627313" y="2433638"/>
            <a:ext cx="16227425" cy="12171362"/>
          </a:xfrm>
          <a:ln/>
        </p:spPr>
      </p:sp>
      <p:sp>
        <p:nvSpPr>
          <p:cNvPr id="410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420" y="10225089"/>
            <a:ext cx="37308366" cy="7058027"/>
          </a:xfrm>
        </p:spPr>
        <p:txBody>
          <a:bodyPr/>
          <a:lstStyle/>
          <a:p>
            <a:r>
              <a:rPr lang="en-US"/>
              <a:t>Click to edit Master title style</a:t>
            </a:r>
          </a:p>
        </p:txBody>
      </p:sp>
      <p:sp>
        <p:nvSpPr>
          <p:cNvPr id="3" name="Subtitle 2"/>
          <p:cNvSpPr>
            <a:spLocks noGrp="1"/>
          </p:cNvSpPr>
          <p:nvPr>
            <p:ph type="subTitle" idx="1"/>
          </p:nvPr>
        </p:nvSpPr>
        <p:spPr>
          <a:xfrm>
            <a:off x="6582838" y="18654714"/>
            <a:ext cx="30725533" cy="8410575"/>
          </a:xfrm>
        </p:spPr>
        <p:txBody>
          <a:bodyPr/>
          <a:lstStyle>
            <a:lvl1pPr marL="0" indent="0" algn="ctr">
              <a:buNone/>
              <a:defRPr/>
            </a:lvl1pPr>
            <a:lvl2pPr marL="504382" indent="0" algn="ctr">
              <a:buNone/>
              <a:defRPr/>
            </a:lvl2pPr>
            <a:lvl3pPr marL="1008765" indent="0" algn="ctr">
              <a:buNone/>
              <a:defRPr/>
            </a:lvl3pPr>
            <a:lvl4pPr marL="1513147" indent="0" algn="ctr">
              <a:buNone/>
              <a:defRPr/>
            </a:lvl4pPr>
            <a:lvl5pPr marL="2017529" indent="0" algn="ctr">
              <a:buNone/>
              <a:defRPr/>
            </a:lvl5pPr>
            <a:lvl6pPr marL="2521911" indent="0" algn="ctr">
              <a:buNone/>
              <a:defRPr/>
            </a:lvl6pPr>
            <a:lvl7pPr marL="3026294" indent="0" algn="ctr">
              <a:buNone/>
              <a:defRPr/>
            </a:lvl7pPr>
            <a:lvl8pPr marL="3530676" indent="0" algn="ctr">
              <a:buNone/>
              <a:defRPr/>
            </a:lvl8pPr>
            <a:lvl9pPr marL="4035058"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EF7427E-06C6-46DD-9332-4BE1D400F363}"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BFC443F-DAC6-47DA-A526-4E667510E97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2648"/>
            <a:ext cx="37308366" cy="6538914"/>
          </a:xfrm>
        </p:spPr>
        <p:txBody>
          <a:bodyPr anchor="t"/>
          <a:lstStyle>
            <a:lvl1pPr algn="l">
              <a:defRPr sz="4500" b="1" cap="all"/>
            </a:lvl1pPr>
          </a:lstStyle>
          <a:p>
            <a:r>
              <a:rPr lang="en-US"/>
              <a:t>Click to edit Master title style</a:t>
            </a:r>
          </a:p>
        </p:txBody>
      </p:sp>
      <p:sp>
        <p:nvSpPr>
          <p:cNvPr id="3" name="Text Placeholder 2"/>
          <p:cNvSpPr>
            <a:spLocks noGrp="1"/>
          </p:cNvSpPr>
          <p:nvPr>
            <p:ph type="body" idx="1"/>
          </p:nvPr>
        </p:nvSpPr>
        <p:spPr>
          <a:xfrm>
            <a:off x="3467102" y="13951746"/>
            <a:ext cx="37308366" cy="7200900"/>
          </a:xfrm>
        </p:spPr>
        <p:txBody>
          <a:bodyPr anchor="b"/>
          <a:lstStyle>
            <a:lvl1pPr marL="0" indent="0">
              <a:buNone/>
              <a:defRPr sz="2300"/>
            </a:lvl1pPr>
            <a:lvl2pPr marL="504382" indent="0">
              <a:buNone/>
              <a:defRPr sz="1900"/>
            </a:lvl2pPr>
            <a:lvl3pPr marL="1008765" indent="0">
              <a:buNone/>
              <a:defRPr sz="1800"/>
            </a:lvl3pPr>
            <a:lvl4pPr marL="1513147" indent="0">
              <a:buNone/>
              <a:defRPr sz="1500"/>
            </a:lvl4pPr>
            <a:lvl5pPr marL="2017529" indent="0">
              <a:buNone/>
              <a:defRPr sz="1500"/>
            </a:lvl5pPr>
            <a:lvl6pPr marL="2521911" indent="0">
              <a:buNone/>
              <a:defRPr sz="1500"/>
            </a:lvl6pPr>
            <a:lvl7pPr marL="3026294" indent="0">
              <a:buNone/>
              <a:defRPr sz="1500"/>
            </a:lvl7pPr>
            <a:lvl8pPr marL="3530676" indent="0">
              <a:buNone/>
              <a:defRPr sz="1500"/>
            </a:lvl8pPr>
            <a:lvl9pPr marL="4035058" indent="0">
              <a:buNone/>
              <a:defRPr sz="15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EEA39B8-875C-4937-AC9F-6B3EF30B4A4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4984" y="7681916"/>
            <a:ext cx="19649018" cy="21724146"/>
          </a:xfrm>
        </p:spPr>
        <p:txBody>
          <a:bodyPr/>
          <a:lstStyle>
            <a:lvl1pPr>
              <a:defRPr sz="3100"/>
            </a:lvl1pPr>
            <a:lvl2pPr>
              <a:defRPr sz="27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47201" y="7681916"/>
            <a:ext cx="19649018" cy="21724146"/>
          </a:xfrm>
        </p:spPr>
        <p:txBody>
          <a:bodyPr/>
          <a:lstStyle>
            <a:lvl1pPr>
              <a:defRPr sz="3100"/>
            </a:lvl1pPr>
            <a:lvl2pPr>
              <a:defRPr sz="27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261482B-B536-49FE-BE5C-855D70BCE07D}"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986" y="7367594"/>
            <a:ext cx="19392901" cy="3071813"/>
          </a:xfrm>
        </p:spPr>
        <p:txBody>
          <a:bodyPr anchor="b"/>
          <a:lstStyle>
            <a:lvl1pPr marL="0" indent="0">
              <a:buNone/>
              <a:defRPr sz="2700" b="1"/>
            </a:lvl1pPr>
            <a:lvl2pPr marL="504382" indent="0">
              <a:buNone/>
              <a:defRPr sz="2300" b="1"/>
            </a:lvl2pPr>
            <a:lvl3pPr marL="1008765" indent="0">
              <a:buNone/>
              <a:defRPr sz="1900" b="1"/>
            </a:lvl3pPr>
            <a:lvl4pPr marL="1513147" indent="0">
              <a:buNone/>
              <a:defRPr sz="1800" b="1"/>
            </a:lvl4pPr>
            <a:lvl5pPr marL="2017529" indent="0">
              <a:buNone/>
              <a:defRPr sz="1800" b="1"/>
            </a:lvl5pPr>
            <a:lvl6pPr marL="2521911" indent="0">
              <a:buNone/>
              <a:defRPr sz="1800" b="1"/>
            </a:lvl6pPr>
            <a:lvl7pPr marL="3026294" indent="0">
              <a:buNone/>
              <a:defRPr sz="1800" b="1"/>
            </a:lvl7pPr>
            <a:lvl8pPr marL="3530676" indent="0">
              <a:buNone/>
              <a:defRPr sz="1800" b="1"/>
            </a:lvl8pPr>
            <a:lvl9pPr marL="4035058" indent="0">
              <a:buNone/>
              <a:defRPr sz="1800" b="1"/>
            </a:lvl9pPr>
          </a:lstStyle>
          <a:p>
            <a:pPr lvl="0"/>
            <a:r>
              <a:rPr lang="en-US"/>
              <a:t>Click to edit Master text styles</a:t>
            </a:r>
          </a:p>
        </p:txBody>
      </p:sp>
      <p:sp>
        <p:nvSpPr>
          <p:cNvPr id="4" name="Content Placeholder 3"/>
          <p:cNvSpPr>
            <a:spLocks noGrp="1"/>
          </p:cNvSpPr>
          <p:nvPr>
            <p:ph sz="half" idx="2"/>
          </p:nvPr>
        </p:nvSpPr>
        <p:spPr>
          <a:xfrm>
            <a:off x="2194986" y="10439404"/>
            <a:ext cx="19392901" cy="18966657"/>
          </a:xfrm>
        </p:spPr>
        <p:txBody>
          <a:bodyPr/>
          <a:lstStyle>
            <a:lvl1pPr>
              <a:defRPr sz="2700"/>
            </a:lvl1pPr>
            <a:lvl2pPr>
              <a:defRPr sz="2300"/>
            </a:lvl2pPr>
            <a:lvl3pPr>
              <a:defRPr sz="19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967" y="7367594"/>
            <a:ext cx="19399251" cy="3071813"/>
          </a:xfrm>
        </p:spPr>
        <p:txBody>
          <a:bodyPr anchor="b"/>
          <a:lstStyle>
            <a:lvl1pPr marL="0" indent="0">
              <a:buNone/>
              <a:defRPr sz="2700" b="1"/>
            </a:lvl1pPr>
            <a:lvl2pPr marL="504382" indent="0">
              <a:buNone/>
              <a:defRPr sz="2300" b="1"/>
            </a:lvl2pPr>
            <a:lvl3pPr marL="1008765" indent="0">
              <a:buNone/>
              <a:defRPr sz="1900" b="1"/>
            </a:lvl3pPr>
            <a:lvl4pPr marL="1513147" indent="0">
              <a:buNone/>
              <a:defRPr sz="1800" b="1"/>
            </a:lvl4pPr>
            <a:lvl5pPr marL="2017529" indent="0">
              <a:buNone/>
              <a:defRPr sz="1800" b="1"/>
            </a:lvl5pPr>
            <a:lvl6pPr marL="2521911" indent="0">
              <a:buNone/>
              <a:defRPr sz="1800" b="1"/>
            </a:lvl6pPr>
            <a:lvl7pPr marL="3026294" indent="0">
              <a:buNone/>
              <a:defRPr sz="1800" b="1"/>
            </a:lvl7pPr>
            <a:lvl8pPr marL="3530676" indent="0">
              <a:buNone/>
              <a:defRPr sz="1800" b="1"/>
            </a:lvl8pPr>
            <a:lvl9pPr marL="4035058" indent="0">
              <a:buNone/>
              <a:defRPr sz="1800" b="1"/>
            </a:lvl9pPr>
          </a:lstStyle>
          <a:p>
            <a:pPr lvl="0"/>
            <a:r>
              <a:rPr lang="en-US"/>
              <a:t>Click to edit Master text styles</a:t>
            </a:r>
          </a:p>
        </p:txBody>
      </p:sp>
      <p:sp>
        <p:nvSpPr>
          <p:cNvPr id="6" name="Content Placeholder 5"/>
          <p:cNvSpPr>
            <a:spLocks noGrp="1"/>
          </p:cNvSpPr>
          <p:nvPr>
            <p:ph sz="quarter" idx="4"/>
          </p:nvPr>
        </p:nvSpPr>
        <p:spPr>
          <a:xfrm>
            <a:off x="22296967" y="10439404"/>
            <a:ext cx="19399251" cy="18966657"/>
          </a:xfrm>
        </p:spPr>
        <p:txBody>
          <a:bodyPr/>
          <a:lstStyle>
            <a:lvl1pPr>
              <a:defRPr sz="2700"/>
            </a:lvl1pPr>
            <a:lvl2pPr>
              <a:defRPr sz="2300"/>
            </a:lvl2pPr>
            <a:lvl3pPr>
              <a:defRPr sz="19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04056BB3-C47A-46E0-AD16-8723D6905C3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010C76B2-CCD0-4C17-9779-996D43CD82E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2A163EBF-C1FD-482A-B0D7-4E5C154E9B01}"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984" y="1309688"/>
            <a:ext cx="14439901" cy="5579270"/>
          </a:xfrm>
        </p:spPr>
        <p:txBody>
          <a:bodyPr anchor="b"/>
          <a:lstStyle>
            <a:lvl1pPr algn="l">
              <a:defRPr sz="2300" b="1"/>
            </a:lvl1pPr>
          </a:lstStyle>
          <a:p>
            <a:r>
              <a:rPr lang="en-US"/>
              <a:t>Click to edit Master title style</a:t>
            </a:r>
          </a:p>
        </p:txBody>
      </p:sp>
      <p:sp>
        <p:nvSpPr>
          <p:cNvPr id="3" name="Content Placeholder 2"/>
          <p:cNvSpPr>
            <a:spLocks noGrp="1"/>
          </p:cNvSpPr>
          <p:nvPr>
            <p:ph idx="1"/>
          </p:nvPr>
        </p:nvSpPr>
        <p:spPr>
          <a:xfrm>
            <a:off x="17159818" y="1309688"/>
            <a:ext cx="24536400" cy="28096370"/>
          </a:xfrm>
        </p:spPr>
        <p:txBody>
          <a:bodyPr/>
          <a:lstStyle>
            <a:lvl1pPr>
              <a:defRPr sz="3600"/>
            </a:lvl1pPr>
            <a:lvl2pPr>
              <a:defRPr sz="31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984" y="6888957"/>
            <a:ext cx="14439901" cy="22517100"/>
          </a:xfrm>
        </p:spPr>
        <p:txBody>
          <a:bodyPr/>
          <a:lstStyle>
            <a:lvl1pPr marL="0" indent="0">
              <a:buNone/>
              <a:defRPr sz="1500"/>
            </a:lvl1pPr>
            <a:lvl2pPr marL="504382" indent="0">
              <a:buNone/>
              <a:defRPr sz="1300"/>
            </a:lvl2pPr>
            <a:lvl3pPr marL="1008765" indent="0">
              <a:buNone/>
              <a:defRPr sz="1100"/>
            </a:lvl3pPr>
            <a:lvl4pPr marL="1513147" indent="0">
              <a:buNone/>
              <a:defRPr sz="1000"/>
            </a:lvl4pPr>
            <a:lvl5pPr marL="2017529" indent="0">
              <a:buNone/>
              <a:defRPr sz="1000"/>
            </a:lvl5pPr>
            <a:lvl6pPr marL="2521911" indent="0">
              <a:buNone/>
              <a:defRPr sz="1000"/>
            </a:lvl6pPr>
            <a:lvl7pPr marL="3026294" indent="0">
              <a:buNone/>
              <a:defRPr sz="1000"/>
            </a:lvl7pPr>
            <a:lvl8pPr marL="3530676" indent="0">
              <a:buNone/>
              <a:defRPr sz="1000"/>
            </a:lvl8pPr>
            <a:lvl9pPr marL="4035058"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976BF97-1FAB-4A9B-873E-A0025016BBF5}"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135" y="23043359"/>
            <a:ext cx="26335566" cy="2719388"/>
          </a:xfrm>
        </p:spPr>
        <p:txBody>
          <a:bodyPr anchor="b"/>
          <a:lstStyle>
            <a:lvl1pPr algn="l">
              <a:defRPr sz="2300" b="1"/>
            </a:lvl1pPr>
          </a:lstStyle>
          <a:p>
            <a:r>
              <a:rPr lang="en-US"/>
              <a:t>Click to edit Master title style</a:t>
            </a:r>
          </a:p>
        </p:txBody>
      </p:sp>
      <p:sp>
        <p:nvSpPr>
          <p:cNvPr id="3" name="Picture Placeholder 2"/>
          <p:cNvSpPr>
            <a:spLocks noGrp="1"/>
          </p:cNvSpPr>
          <p:nvPr>
            <p:ph type="pic" idx="1"/>
          </p:nvPr>
        </p:nvSpPr>
        <p:spPr>
          <a:xfrm>
            <a:off x="8602135" y="2940846"/>
            <a:ext cx="26335566" cy="19752469"/>
          </a:xfrm>
        </p:spPr>
        <p:txBody>
          <a:bodyPr/>
          <a:lstStyle>
            <a:lvl1pPr marL="0" indent="0">
              <a:buNone/>
              <a:defRPr sz="3600"/>
            </a:lvl1pPr>
            <a:lvl2pPr marL="504382" indent="0">
              <a:buNone/>
              <a:defRPr sz="3100"/>
            </a:lvl2pPr>
            <a:lvl3pPr marL="1008765" indent="0">
              <a:buNone/>
              <a:defRPr sz="2700"/>
            </a:lvl3pPr>
            <a:lvl4pPr marL="1513147" indent="0">
              <a:buNone/>
              <a:defRPr sz="2300"/>
            </a:lvl4pPr>
            <a:lvl5pPr marL="2017529" indent="0">
              <a:buNone/>
              <a:defRPr sz="2300"/>
            </a:lvl5pPr>
            <a:lvl6pPr marL="2521911" indent="0">
              <a:buNone/>
              <a:defRPr sz="2300"/>
            </a:lvl6pPr>
            <a:lvl7pPr marL="3026294" indent="0">
              <a:buNone/>
              <a:defRPr sz="2300"/>
            </a:lvl7pPr>
            <a:lvl8pPr marL="3530676" indent="0">
              <a:buNone/>
              <a:defRPr sz="2300"/>
            </a:lvl8pPr>
            <a:lvl9pPr marL="4035058" indent="0">
              <a:buNone/>
              <a:defRPr sz="2300"/>
            </a:lvl9pPr>
          </a:lstStyle>
          <a:p>
            <a:pPr lvl="0"/>
            <a:endParaRPr lang="en-US" noProof="0"/>
          </a:p>
        </p:txBody>
      </p:sp>
      <p:sp>
        <p:nvSpPr>
          <p:cNvPr id="4" name="Text Placeholder 3"/>
          <p:cNvSpPr>
            <a:spLocks noGrp="1"/>
          </p:cNvSpPr>
          <p:nvPr>
            <p:ph type="body" sz="half" idx="2"/>
          </p:nvPr>
        </p:nvSpPr>
        <p:spPr>
          <a:xfrm>
            <a:off x="8602135" y="25762748"/>
            <a:ext cx="26335566" cy="3864769"/>
          </a:xfrm>
        </p:spPr>
        <p:txBody>
          <a:bodyPr/>
          <a:lstStyle>
            <a:lvl1pPr marL="0" indent="0">
              <a:buNone/>
              <a:defRPr sz="1500"/>
            </a:lvl1pPr>
            <a:lvl2pPr marL="504382" indent="0">
              <a:buNone/>
              <a:defRPr sz="1300"/>
            </a:lvl2pPr>
            <a:lvl3pPr marL="1008765" indent="0">
              <a:buNone/>
              <a:defRPr sz="1100"/>
            </a:lvl3pPr>
            <a:lvl4pPr marL="1513147" indent="0">
              <a:buNone/>
              <a:defRPr sz="1000"/>
            </a:lvl4pPr>
            <a:lvl5pPr marL="2017529" indent="0">
              <a:buNone/>
              <a:defRPr sz="1000"/>
            </a:lvl5pPr>
            <a:lvl6pPr marL="2521911" indent="0">
              <a:buNone/>
              <a:defRPr sz="1000"/>
            </a:lvl6pPr>
            <a:lvl7pPr marL="3026294" indent="0">
              <a:buNone/>
              <a:defRPr sz="1000"/>
            </a:lvl7pPr>
            <a:lvl8pPr marL="3530676" indent="0">
              <a:buNone/>
              <a:defRPr sz="1000"/>
            </a:lvl8pPr>
            <a:lvl9pPr marL="4035058"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0C19427-4BE0-4B92-9C38-D16C932BF39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D3A3DBA-DBF5-4307-927F-388F23F4385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971" y="1319218"/>
            <a:ext cx="9874251" cy="2808684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94986" y="1319218"/>
            <a:ext cx="29423782" cy="2808684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EC6CFC8-2042-4F85-846D-662E8295080A}"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194986" y="1319212"/>
            <a:ext cx="39501234" cy="5486400"/>
          </a:xfrm>
          <a:prstGeom prst="rect">
            <a:avLst/>
          </a:prstGeom>
          <a:noFill/>
          <a:ln w="9525">
            <a:noFill/>
            <a:miter lim="800000"/>
            <a:headEnd/>
            <a:tailEnd/>
          </a:ln>
        </p:spPr>
        <p:txBody>
          <a:bodyPr vert="horz" wrap="square" lIns="345855" tIns="172928" rIns="345855" bIns="17292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2194986" y="7681916"/>
            <a:ext cx="39501234" cy="21724146"/>
          </a:xfrm>
          <a:prstGeom prst="rect">
            <a:avLst/>
          </a:prstGeom>
          <a:noFill/>
          <a:ln w="9525">
            <a:noFill/>
            <a:miter lim="800000"/>
            <a:headEnd/>
            <a:tailEnd/>
          </a:ln>
        </p:spPr>
        <p:txBody>
          <a:bodyPr vert="horz" wrap="square" lIns="345855" tIns="172928" rIns="345855" bIns="17292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2194986" y="29977557"/>
            <a:ext cx="10240434" cy="2286000"/>
          </a:xfrm>
          <a:prstGeom prst="rect">
            <a:avLst/>
          </a:prstGeom>
          <a:noFill/>
          <a:ln w="9525">
            <a:noFill/>
            <a:miter lim="800000"/>
            <a:headEnd/>
            <a:tailEnd/>
          </a:ln>
          <a:effectLst/>
        </p:spPr>
        <p:txBody>
          <a:bodyPr vert="horz" wrap="square" lIns="345855" tIns="172928" rIns="345855" bIns="172928" numCol="1" anchor="t" anchorCtr="0" compatLnSpc="1">
            <a:prstTxWarp prst="textNoShape">
              <a:avLst/>
            </a:prstTxWarp>
          </a:bodyPr>
          <a:lstStyle>
            <a:lvl1pPr>
              <a:defRPr sz="5300"/>
            </a:lvl1pPr>
          </a:lstStyle>
          <a:p>
            <a:pPr>
              <a:defRPr/>
            </a:pPr>
            <a:endParaRPr lang="en-US"/>
          </a:p>
        </p:txBody>
      </p:sp>
      <p:sp>
        <p:nvSpPr>
          <p:cNvPr id="1029" name="Rectangle 5"/>
          <p:cNvSpPr>
            <a:spLocks noGrp="1" noChangeArrowheads="1"/>
          </p:cNvSpPr>
          <p:nvPr>
            <p:ph type="ftr" sz="quarter" idx="3"/>
          </p:nvPr>
        </p:nvSpPr>
        <p:spPr bwMode="auto">
          <a:xfrm>
            <a:off x="14996586" y="29977557"/>
            <a:ext cx="13898034" cy="2286000"/>
          </a:xfrm>
          <a:prstGeom prst="rect">
            <a:avLst/>
          </a:prstGeom>
          <a:noFill/>
          <a:ln w="9525">
            <a:noFill/>
            <a:miter lim="800000"/>
            <a:headEnd/>
            <a:tailEnd/>
          </a:ln>
          <a:effectLst/>
        </p:spPr>
        <p:txBody>
          <a:bodyPr vert="horz" wrap="square" lIns="345855" tIns="172928" rIns="345855" bIns="172928" numCol="1" anchor="t" anchorCtr="0" compatLnSpc="1">
            <a:prstTxWarp prst="textNoShape">
              <a:avLst/>
            </a:prstTxWarp>
          </a:bodyPr>
          <a:lstStyle>
            <a:lvl1pPr algn="ctr">
              <a:defRPr sz="5300"/>
            </a:lvl1pPr>
          </a:lstStyle>
          <a:p>
            <a:pPr>
              <a:defRPr/>
            </a:pPr>
            <a:endParaRPr lang="en-US"/>
          </a:p>
        </p:txBody>
      </p:sp>
      <p:sp>
        <p:nvSpPr>
          <p:cNvPr id="1030" name="Rectangle 6"/>
          <p:cNvSpPr>
            <a:spLocks noGrp="1" noChangeArrowheads="1"/>
          </p:cNvSpPr>
          <p:nvPr>
            <p:ph type="sldNum" sz="quarter" idx="4"/>
          </p:nvPr>
        </p:nvSpPr>
        <p:spPr bwMode="auto">
          <a:xfrm>
            <a:off x="31455786" y="29977557"/>
            <a:ext cx="10240434" cy="2286000"/>
          </a:xfrm>
          <a:prstGeom prst="rect">
            <a:avLst/>
          </a:prstGeom>
          <a:noFill/>
          <a:ln w="9525">
            <a:noFill/>
            <a:miter lim="800000"/>
            <a:headEnd/>
            <a:tailEnd/>
          </a:ln>
          <a:effectLst/>
        </p:spPr>
        <p:txBody>
          <a:bodyPr vert="horz" wrap="square" lIns="345855" tIns="172928" rIns="345855" bIns="172928" numCol="1" anchor="t" anchorCtr="0" compatLnSpc="1">
            <a:prstTxWarp prst="textNoShape">
              <a:avLst/>
            </a:prstTxWarp>
          </a:bodyPr>
          <a:lstStyle>
            <a:lvl1pPr algn="r">
              <a:defRPr sz="5300"/>
            </a:lvl1pPr>
          </a:lstStyle>
          <a:p>
            <a:pPr>
              <a:defRPr/>
            </a:pPr>
            <a:fld id="{797C3C77-EBE8-4FD2-83F4-B3D2BBFB647F}"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58871" rtl="0" eaLnBrk="0" fontAlgn="base" hangingPunct="0">
        <a:spcBef>
          <a:spcPct val="0"/>
        </a:spcBef>
        <a:spcAft>
          <a:spcPct val="0"/>
        </a:spcAft>
        <a:defRPr sz="16600">
          <a:solidFill>
            <a:schemeClr val="tx2"/>
          </a:solidFill>
          <a:latin typeface="+mj-lt"/>
          <a:ea typeface="+mj-ea"/>
          <a:cs typeface="+mj-cs"/>
        </a:defRPr>
      </a:lvl1pPr>
      <a:lvl2pPr algn="ctr" defTabSz="3458871" rtl="0" eaLnBrk="0" fontAlgn="base" hangingPunct="0">
        <a:spcBef>
          <a:spcPct val="0"/>
        </a:spcBef>
        <a:spcAft>
          <a:spcPct val="0"/>
        </a:spcAft>
        <a:defRPr sz="16600">
          <a:solidFill>
            <a:schemeClr val="tx2"/>
          </a:solidFill>
          <a:latin typeface="Arial" charset="0"/>
        </a:defRPr>
      </a:lvl2pPr>
      <a:lvl3pPr algn="ctr" defTabSz="3458871" rtl="0" eaLnBrk="0" fontAlgn="base" hangingPunct="0">
        <a:spcBef>
          <a:spcPct val="0"/>
        </a:spcBef>
        <a:spcAft>
          <a:spcPct val="0"/>
        </a:spcAft>
        <a:defRPr sz="16600">
          <a:solidFill>
            <a:schemeClr val="tx2"/>
          </a:solidFill>
          <a:latin typeface="Arial" charset="0"/>
        </a:defRPr>
      </a:lvl3pPr>
      <a:lvl4pPr algn="ctr" defTabSz="3458871" rtl="0" eaLnBrk="0" fontAlgn="base" hangingPunct="0">
        <a:spcBef>
          <a:spcPct val="0"/>
        </a:spcBef>
        <a:spcAft>
          <a:spcPct val="0"/>
        </a:spcAft>
        <a:defRPr sz="16600">
          <a:solidFill>
            <a:schemeClr val="tx2"/>
          </a:solidFill>
          <a:latin typeface="Arial" charset="0"/>
        </a:defRPr>
      </a:lvl4pPr>
      <a:lvl5pPr algn="ctr" defTabSz="3458871" rtl="0" eaLnBrk="0" fontAlgn="base" hangingPunct="0">
        <a:spcBef>
          <a:spcPct val="0"/>
        </a:spcBef>
        <a:spcAft>
          <a:spcPct val="0"/>
        </a:spcAft>
        <a:defRPr sz="16600">
          <a:solidFill>
            <a:schemeClr val="tx2"/>
          </a:solidFill>
          <a:latin typeface="Arial" charset="0"/>
        </a:defRPr>
      </a:lvl5pPr>
      <a:lvl6pPr marL="504382" algn="ctr" defTabSz="3458871" rtl="0" fontAlgn="base">
        <a:spcBef>
          <a:spcPct val="0"/>
        </a:spcBef>
        <a:spcAft>
          <a:spcPct val="0"/>
        </a:spcAft>
        <a:defRPr sz="16600">
          <a:solidFill>
            <a:schemeClr val="tx2"/>
          </a:solidFill>
          <a:latin typeface="Arial" charset="0"/>
        </a:defRPr>
      </a:lvl6pPr>
      <a:lvl7pPr marL="1008765" algn="ctr" defTabSz="3458871" rtl="0" fontAlgn="base">
        <a:spcBef>
          <a:spcPct val="0"/>
        </a:spcBef>
        <a:spcAft>
          <a:spcPct val="0"/>
        </a:spcAft>
        <a:defRPr sz="16600">
          <a:solidFill>
            <a:schemeClr val="tx2"/>
          </a:solidFill>
          <a:latin typeface="Arial" charset="0"/>
        </a:defRPr>
      </a:lvl7pPr>
      <a:lvl8pPr marL="1513147" algn="ctr" defTabSz="3458871" rtl="0" fontAlgn="base">
        <a:spcBef>
          <a:spcPct val="0"/>
        </a:spcBef>
        <a:spcAft>
          <a:spcPct val="0"/>
        </a:spcAft>
        <a:defRPr sz="16600">
          <a:solidFill>
            <a:schemeClr val="tx2"/>
          </a:solidFill>
          <a:latin typeface="Arial" charset="0"/>
        </a:defRPr>
      </a:lvl8pPr>
      <a:lvl9pPr marL="2017529" algn="ctr" defTabSz="3458871" rtl="0" fontAlgn="base">
        <a:spcBef>
          <a:spcPct val="0"/>
        </a:spcBef>
        <a:spcAft>
          <a:spcPct val="0"/>
        </a:spcAft>
        <a:defRPr sz="16600">
          <a:solidFill>
            <a:schemeClr val="tx2"/>
          </a:solidFill>
          <a:latin typeface="Arial" charset="0"/>
        </a:defRPr>
      </a:lvl9pPr>
    </p:titleStyle>
    <p:bodyStyle>
      <a:lvl1pPr marL="1297734" indent="-1297734" algn="l" defTabSz="3458871" rtl="0" eaLnBrk="0" fontAlgn="base" hangingPunct="0">
        <a:spcBef>
          <a:spcPct val="20000"/>
        </a:spcBef>
        <a:spcAft>
          <a:spcPct val="0"/>
        </a:spcAft>
        <a:buChar char="•"/>
        <a:defRPr sz="12100">
          <a:solidFill>
            <a:schemeClr val="tx1"/>
          </a:solidFill>
          <a:latin typeface="+mn-lt"/>
          <a:ea typeface="+mn-ea"/>
          <a:cs typeface="+mn-cs"/>
        </a:defRPr>
      </a:lvl1pPr>
      <a:lvl2pPr marL="2810880" indent="-1082320" algn="l" defTabSz="3458871" rtl="0" eaLnBrk="0" fontAlgn="base" hangingPunct="0">
        <a:spcBef>
          <a:spcPct val="20000"/>
        </a:spcBef>
        <a:spcAft>
          <a:spcPct val="0"/>
        </a:spcAft>
        <a:buChar char="–"/>
        <a:defRPr sz="10700">
          <a:solidFill>
            <a:schemeClr val="tx1"/>
          </a:solidFill>
          <a:latin typeface="+mn-lt"/>
        </a:defRPr>
      </a:lvl2pPr>
      <a:lvl3pPr marL="4324027" indent="-865156" algn="l" defTabSz="3458871" rtl="0" eaLnBrk="0" fontAlgn="base" hangingPunct="0">
        <a:spcBef>
          <a:spcPct val="20000"/>
        </a:spcBef>
        <a:spcAft>
          <a:spcPct val="0"/>
        </a:spcAft>
        <a:buChar char="•"/>
        <a:defRPr sz="9000">
          <a:solidFill>
            <a:schemeClr val="tx1"/>
          </a:solidFill>
          <a:latin typeface="+mn-lt"/>
        </a:defRPr>
      </a:lvl3pPr>
      <a:lvl4pPr marL="6052587" indent="-865156" algn="l" defTabSz="3458871" rtl="0" eaLnBrk="0" fontAlgn="base" hangingPunct="0">
        <a:spcBef>
          <a:spcPct val="20000"/>
        </a:spcBef>
        <a:spcAft>
          <a:spcPct val="0"/>
        </a:spcAft>
        <a:buChar char="–"/>
        <a:defRPr sz="7600">
          <a:solidFill>
            <a:schemeClr val="tx1"/>
          </a:solidFill>
          <a:latin typeface="+mn-lt"/>
        </a:defRPr>
      </a:lvl4pPr>
      <a:lvl5pPr marL="7781147" indent="-863405" algn="l" defTabSz="3458871" rtl="0" eaLnBrk="0" fontAlgn="base" hangingPunct="0">
        <a:spcBef>
          <a:spcPct val="20000"/>
        </a:spcBef>
        <a:spcAft>
          <a:spcPct val="0"/>
        </a:spcAft>
        <a:buChar char="»"/>
        <a:defRPr sz="7600">
          <a:solidFill>
            <a:schemeClr val="tx1"/>
          </a:solidFill>
          <a:latin typeface="+mn-lt"/>
        </a:defRPr>
      </a:lvl5pPr>
      <a:lvl6pPr marL="8285530" indent="-863405" algn="l" defTabSz="3458871" rtl="0" fontAlgn="base">
        <a:spcBef>
          <a:spcPct val="20000"/>
        </a:spcBef>
        <a:spcAft>
          <a:spcPct val="0"/>
        </a:spcAft>
        <a:buChar char="»"/>
        <a:defRPr sz="7600">
          <a:solidFill>
            <a:schemeClr val="tx1"/>
          </a:solidFill>
          <a:latin typeface="+mn-lt"/>
        </a:defRPr>
      </a:lvl6pPr>
      <a:lvl7pPr marL="8789912" indent="-863405" algn="l" defTabSz="3458871" rtl="0" fontAlgn="base">
        <a:spcBef>
          <a:spcPct val="20000"/>
        </a:spcBef>
        <a:spcAft>
          <a:spcPct val="0"/>
        </a:spcAft>
        <a:buChar char="»"/>
        <a:defRPr sz="7600">
          <a:solidFill>
            <a:schemeClr val="tx1"/>
          </a:solidFill>
          <a:latin typeface="+mn-lt"/>
        </a:defRPr>
      </a:lvl7pPr>
      <a:lvl8pPr marL="9294294" indent="-863405" algn="l" defTabSz="3458871" rtl="0" fontAlgn="base">
        <a:spcBef>
          <a:spcPct val="20000"/>
        </a:spcBef>
        <a:spcAft>
          <a:spcPct val="0"/>
        </a:spcAft>
        <a:buChar char="»"/>
        <a:defRPr sz="7600">
          <a:solidFill>
            <a:schemeClr val="tx1"/>
          </a:solidFill>
          <a:latin typeface="+mn-lt"/>
        </a:defRPr>
      </a:lvl8pPr>
      <a:lvl9pPr marL="9798676" indent="-863405" algn="l" defTabSz="3458871" rtl="0" fontAlgn="base">
        <a:spcBef>
          <a:spcPct val="20000"/>
        </a:spcBef>
        <a:spcAft>
          <a:spcPct val="0"/>
        </a:spcAft>
        <a:buChar char="»"/>
        <a:defRPr sz="7600">
          <a:solidFill>
            <a:schemeClr val="tx1"/>
          </a:solidFill>
          <a:latin typeface="+mn-lt"/>
        </a:defRPr>
      </a:lvl9pPr>
    </p:bodyStyle>
    <p:otherStyle>
      <a:defPPr>
        <a:defRPr lang="en-US"/>
      </a:defPPr>
      <a:lvl1pPr marL="0" algn="l" defTabSz="1008765" rtl="0" eaLnBrk="1" latinLnBrk="0" hangingPunct="1">
        <a:defRPr sz="1900" kern="1200">
          <a:solidFill>
            <a:schemeClr val="tx1"/>
          </a:solidFill>
          <a:latin typeface="+mn-lt"/>
          <a:ea typeface="+mn-ea"/>
          <a:cs typeface="+mn-cs"/>
        </a:defRPr>
      </a:lvl1pPr>
      <a:lvl2pPr marL="504382" algn="l" defTabSz="1008765" rtl="0" eaLnBrk="1" latinLnBrk="0" hangingPunct="1">
        <a:defRPr sz="1900" kern="1200">
          <a:solidFill>
            <a:schemeClr val="tx1"/>
          </a:solidFill>
          <a:latin typeface="+mn-lt"/>
          <a:ea typeface="+mn-ea"/>
          <a:cs typeface="+mn-cs"/>
        </a:defRPr>
      </a:lvl2pPr>
      <a:lvl3pPr marL="1008765" algn="l" defTabSz="1008765" rtl="0" eaLnBrk="1" latinLnBrk="0" hangingPunct="1">
        <a:defRPr sz="1900" kern="1200">
          <a:solidFill>
            <a:schemeClr val="tx1"/>
          </a:solidFill>
          <a:latin typeface="+mn-lt"/>
          <a:ea typeface="+mn-ea"/>
          <a:cs typeface="+mn-cs"/>
        </a:defRPr>
      </a:lvl3pPr>
      <a:lvl4pPr marL="1513147" algn="l" defTabSz="1008765" rtl="0" eaLnBrk="1" latinLnBrk="0" hangingPunct="1">
        <a:defRPr sz="1900" kern="1200">
          <a:solidFill>
            <a:schemeClr val="tx1"/>
          </a:solidFill>
          <a:latin typeface="+mn-lt"/>
          <a:ea typeface="+mn-ea"/>
          <a:cs typeface="+mn-cs"/>
        </a:defRPr>
      </a:lvl4pPr>
      <a:lvl5pPr marL="2017529" algn="l" defTabSz="1008765" rtl="0" eaLnBrk="1" latinLnBrk="0" hangingPunct="1">
        <a:defRPr sz="1900" kern="1200">
          <a:solidFill>
            <a:schemeClr val="tx1"/>
          </a:solidFill>
          <a:latin typeface="+mn-lt"/>
          <a:ea typeface="+mn-ea"/>
          <a:cs typeface="+mn-cs"/>
        </a:defRPr>
      </a:lvl5pPr>
      <a:lvl6pPr marL="2521911" algn="l" defTabSz="1008765" rtl="0" eaLnBrk="1" latinLnBrk="0" hangingPunct="1">
        <a:defRPr sz="1900" kern="1200">
          <a:solidFill>
            <a:schemeClr val="tx1"/>
          </a:solidFill>
          <a:latin typeface="+mn-lt"/>
          <a:ea typeface="+mn-ea"/>
          <a:cs typeface="+mn-cs"/>
        </a:defRPr>
      </a:lvl6pPr>
      <a:lvl7pPr marL="3026294" algn="l" defTabSz="1008765" rtl="0" eaLnBrk="1" latinLnBrk="0" hangingPunct="1">
        <a:defRPr sz="1900" kern="1200">
          <a:solidFill>
            <a:schemeClr val="tx1"/>
          </a:solidFill>
          <a:latin typeface="+mn-lt"/>
          <a:ea typeface="+mn-ea"/>
          <a:cs typeface="+mn-cs"/>
        </a:defRPr>
      </a:lvl7pPr>
      <a:lvl8pPr marL="3530676" algn="l" defTabSz="1008765" rtl="0" eaLnBrk="1" latinLnBrk="0" hangingPunct="1">
        <a:defRPr sz="1900" kern="1200">
          <a:solidFill>
            <a:schemeClr val="tx1"/>
          </a:solidFill>
          <a:latin typeface="+mn-lt"/>
          <a:ea typeface="+mn-ea"/>
          <a:cs typeface="+mn-cs"/>
        </a:defRPr>
      </a:lvl8pPr>
      <a:lvl9pPr marL="4035058" algn="l" defTabSz="1008765"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2" name="Rectangle 1051">
            <a:extLst>
              <a:ext uri="{FF2B5EF4-FFF2-40B4-BE49-F238E27FC236}">
                <a16:creationId xmlns:a16="http://schemas.microsoft.com/office/drawing/2014/main" id="{ECAF7F30-4242-F28F-CC63-2CF9D23A54BF}"/>
              </a:ext>
            </a:extLst>
          </p:cNvPr>
          <p:cNvSpPr/>
          <p:nvPr/>
        </p:nvSpPr>
        <p:spPr bwMode="auto">
          <a:xfrm>
            <a:off x="365760" y="12287718"/>
            <a:ext cx="13350240" cy="2496881"/>
          </a:xfrm>
          <a:prstGeom prst="rect">
            <a:avLst/>
          </a:prstGeom>
          <a:solidFill>
            <a:schemeClr val="tx2">
              <a:lumMod val="95000"/>
              <a:lumOff val="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135313" rtl="0" eaLnBrk="1" fontAlgn="base" latinLnBrk="0" hangingPunct="1">
              <a:lnSpc>
                <a:spcPct val="100000"/>
              </a:lnSpc>
              <a:spcBef>
                <a:spcPct val="0"/>
              </a:spcBef>
              <a:spcAft>
                <a:spcPct val="0"/>
              </a:spcAft>
              <a:buClrTx/>
              <a:buSzTx/>
              <a:buFontTx/>
              <a:buNone/>
              <a:tabLst/>
            </a:pPr>
            <a:endParaRPr kumimoji="0" lang="en-US" sz="6200" b="1" i="0" u="none" strike="noStrike" normalizeH="0" baseline="0">
              <a:ln w="22225">
                <a:solidFill>
                  <a:schemeClr val="accent2"/>
                </a:solidFill>
                <a:prstDash val="solid"/>
              </a:ln>
              <a:solidFill>
                <a:srgbClr val="FFFF00"/>
              </a:solidFill>
              <a:latin typeface="Arial" charset="0"/>
            </a:endParaRPr>
          </a:p>
        </p:txBody>
      </p:sp>
      <p:sp>
        <p:nvSpPr>
          <p:cNvPr id="36" name="Rectangle 35"/>
          <p:cNvSpPr/>
          <p:nvPr/>
        </p:nvSpPr>
        <p:spPr bwMode="auto">
          <a:xfrm>
            <a:off x="33147000" y="15653358"/>
            <a:ext cx="9939528" cy="11550042"/>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135313" rtl="0" eaLnBrk="1" fontAlgn="base" latinLnBrk="0" hangingPunct="1">
              <a:lnSpc>
                <a:spcPct val="100000"/>
              </a:lnSpc>
              <a:spcBef>
                <a:spcPct val="0"/>
              </a:spcBef>
              <a:spcAft>
                <a:spcPct val="0"/>
              </a:spcAft>
              <a:buClrTx/>
              <a:buSzTx/>
              <a:buFontTx/>
              <a:buNone/>
              <a:tabLst/>
            </a:pPr>
            <a:endParaRPr kumimoji="0" lang="en-US" sz="6200" b="0" i="0" u="none" strike="noStrike" cap="none" normalizeH="0" baseline="0">
              <a:ln>
                <a:noFill/>
              </a:ln>
              <a:solidFill>
                <a:schemeClr val="tx1"/>
              </a:solidFill>
              <a:effectLst/>
              <a:latin typeface="Arial" charset="0"/>
            </a:endParaRPr>
          </a:p>
        </p:txBody>
      </p:sp>
      <p:sp>
        <p:nvSpPr>
          <p:cNvPr id="6" name="Rectangle 5"/>
          <p:cNvSpPr/>
          <p:nvPr/>
        </p:nvSpPr>
        <p:spPr bwMode="auto">
          <a:xfrm>
            <a:off x="21579840" y="15299973"/>
            <a:ext cx="11109959" cy="17246342"/>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135313" rtl="0" eaLnBrk="1" fontAlgn="base" latinLnBrk="0" hangingPunct="1">
              <a:lnSpc>
                <a:spcPct val="100000"/>
              </a:lnSpc>
              <a:spcBef>
                <a:spcPct val="0"/>
              </a:spcBef>
              <a:spcAft>
                <a:spcPct val="0"/>
              </a:spcAft>
              <a:buClrTx/>
              <a:buSzTx/>
              <a:buFontTx/>
              <a:buNone/>
              <a:tabLst/>
            </a:pPr>
            <a:endParaRPr kumimoji="0" lang="en-US" sz="6200" b="0" i="0" u="none" strike="noStrike" cap="none" normalizeH="0" baseline="0">
              <a:ln>
                <a:noFill/>
              </a:ln>
              <a:solidFill>
                <a:schemeClr val="tx1"/>
              </a:solidFill>
              <a:effectLst/>
              <a:latin typeface="Arial"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248488"/>
            <a:ext cx="5486400" cy="5480913"/>
          </a:xfrm>
          <a:prstGeom prst="rect">
            <a:avLst/>
          </a:prstGeom>
        </p:spPr>
      </p:pic>
      <p:sp>
        <p:nvSpPr>
          <p:cNvPr id="2050" name="Text Box 39"/>
          <p:cNvSpPr txBox="1">
            <a:spLocks noChangeArrowheads="1"/>
          </p:cNvSpPr>
          <p:nvPr/>
        </p:nvSpPr>
        <p:spPr bwMode="auto">
          <a:xfrm>
            <a:off x="6629400" y="0"/>
            <a:ext cx="32689799" cy="5174460"/>
          </a:xfrm>
          <a:prstGeom prst="rect">
            <a:avLst/>
          </a:prstGeom>
          <a:solidFill>
            <a:srgbClr val="44697D"/>
          </a:solidFill>
          <a:ln w="12700">
            <a:noFill/>
            <a:miter lim="800000"/>
            <a:headEnd/>
            <a:tailEnd/>
          </a:ln>
        </p:spPr>
        <p:txBody>
          <a:bodyPr lIns="100875" tIns="50438" rIns="100875" bIns="50438"/>
          <a:lstStyle/>
          <a:p>
            <a:pPr algn="ctr" defTabSz="5534194"/>
            <a:endParaRPr lang="en-US" sz="3900" b="1" i="1" dirty="0">
              <a:solidFill>
                <a:schemeClr val="bg1"/>
              </a:solidFill>
              <a:latin typeface="Calibri" pitchFamily="34" charset="0"/>
              <a:cs typeface="Calibri" pitchFamily="34" charset="0"/>
            </a:endParaRPr>
          </a:p>
        </p:txBody>
      </p:sp>
      <p:sp>
        <p:nvSpPr>
          <p:cNvPr id="2057" name="Text Box 76"/>
          <p:cNvSpPr txBox="1">
            <a:spLocks noChangeArrowheads="1"/>
          </p:cNvSpPr>
          <p:nvPr/>
        </p:nvSpPr>
        <p:spPr bwMode="auto">
          <a:xfrm>
            <a:off x="587828" y="14859000"/>
            <a:ext cx="20671971" cy="794358"/>
          </a:xfrm>
          <a:prstGeom prst="rect">
            <a:avLst/>
          </a:prstGeom>
          <a:solidFill>
            <a:srgbClr val="AE6042"/>
          </a:solidFill>
          <a:ln w="12700">
            <a:noFill/>
            <a:miter lim="800000"/>
            <a:headEnd/>
            <a:tailEnd/>
          </a:ln>
        </p:spPr>
        <p:txBody>
          <a:bodyPr wrap="square" lIns="100875" tIns="50438" rIns="100875" bIns="50438" anchor="ctr">
            <a:spAutoFit/>
          </a:bodyPr>
          <a:lstStyle>
            <a:defPPr>
              <a:defRPr lang="en-US"/>
            </a:defPPr>
            <a:lvl1pPr algn="ctr" defTabSz="5016500">
              <a:spcBef>
                <a:spcPct val="50000"/>
              </a:spcBef>
              <a:defRPr sz="3600">
                <a:solidFill>
                  <a:schemeClr val="bg1"/>
                </a:solidFill>
                <a:latin typeface="Calibri" pitchFamily="34" charset="0"/>
                <a:cs typeface="Calibri" pitchFamily="34" charset="0"/>
              </a:defRPr>
            </a:lvl1pPr>
          </a:lstStyle>
          <a:p>
            <a:r>
              <a:rPr lang="en-US" sz="4500" dirty="0">
                <a:latin typeface="Arial" pitchFamily="34" charset="0"/>
                <a:cs typeface="Arial" pitchFamily="34" charset="0"/>
              </a:rPr>
              <a:t>Tables &amp; Charts</a:t>
            </a:r>
          </a:p>
        </p:txBody>
      </p:sp>
      <p:sp>
        <p:nvSpPr>
          <p:cNvPr id="2058" name="TextBox 12"/>
          <p:cNvSpPr txBox="1">
            <a:spLocks noChangeArrowheads="1"/>
          </p:cNvSpPr>
          <p:nvPr/>
        </p:nvSpPr>
        <p:spPr bwMode="auto">
          <a:xfrm>
            <a:off x="8893166" y="3645981"/>
            <a:ext cx="26452286" cy="1332967"/>
          </a:xfrm>
          <a:prstGeom prst="rect">
            <a:avLst/>
          </a:prstGeom>
          <a:noFill/>
          <a:ln w="9525">
            <a:noFill/>
            <a:miter lim="800000"/>
            <a:headEnd/>
            <a:tailEnd/>
          </a:ln>
        </p:spPr>
        <p:txBody>
          <a:bodyPr wrap="square" lIns="100875" tIns="50438" rIns="100875" bIns="50438">
            <a:spAutoFit/>
          </a:bodyPr>
          <a:lstStyle/>
          <a:p>
            <a:pPr algn="ctr"/>
            <a:endParaRPr lang="en-US" sz="4000" i="1" dirty="0">
              <a:solidFill>
                <a:schemeClr val="bg1"/>
              </a:solidFill>
              <a:latin typeface="+mj-lt"/>
              <a:cs typeface="Arial" pitchFamily="34" charset="0"/>
            </a:endParaRPr>
          </a:p>
          <a:p>
            <a:pPr algn="ctr"/>
            <a:r>
              <a:rPr lang="en-US" sz="4000" dirty="0">
                <a:solidFill>
                  <a:schemeClr val="bg1"/>
                </a:solidFill>
                <a:latin typeface="+mj-lt"/>
              </a:rPr>
              <a:t>McWilliams School of Biomedical Informatics at UTHealth Houston</a:t>
            </a:r>
            <a:endParaRPr lang="en-US" sz="4000" i="1" dirty="0">
              <a:solidFill>
                <a:schemeClr val="bg1"/>
              </a:solidFill>
              <a:latin typeface="+mj-lt"/>
              <a:cs typeface="Arial" pitchFamily="34" charset="0"/>
            </a:endParaRPr>
          </a:p>
        </p:txBody>
      </p:sp>
      <p:sp>
        <p:nvSpPr>
          <p:cNvPr id="2061" name="TextBox 18"/>
          <p:cNvSpPr txBox="1">
            <a:spLocks noChangeArrowheads="1"/>
          </p:cNvSpPr>
          <p:nvPr/>
        </p:nvSpPr>
        <p:spPr bwMode="auto">
          <a:xfrm>
            <a:off x="8759454" y="2832814"/>
            <a:ext cx="26517600" cy="1548411"/>
          </a:xfrm>
          <a:prstGeom prst="rect">
            <a:avLst/>
          </a:prstGeom>
          <a:noFill/>
          <a:ln w="9525">
            <a:noFill/>
            <a:miter lim="800000"/>
            <a:headEnd/>
            <a:tailEnd/>
          </a:ln>
        </p:spPr>
        <p:txBody>
          <a:bodyPr wrap="square" lIns="100875" tIns="50438" rIns="100875" bIns="50438">
            <a:spAutoFit/>
          </a:bodyPr>
          <a:lstStyle/>
          <a:p>
            <a:pPr algn="ctr"/>
            <a:r>
              <a:rPr lang="en-US" sz="5000" b="1" dirty="0">
                <a:solidFill>
                  <a:schemeClr val="bg1"/>
                </a:solidFill>
                <a:latin typeface="Arial" pitchFamily="34" charset="0"/>
                <a:cs typeface="Arial" pitchFamily="34" charset="0"/>
              </a:rPr>
              <a:t>Jordan Pulaski</a:t>
            </a:r>
          </a:p>
          <a:p>
            <a:pPr algn="ctr"/>
            <a:r>
              <a:rPr lang="en-US" sz="4400" dirty="0">
                <a:solidFill>
                  <a:schemeClr val="bg1"/>
                </a:solidFill>
                <a:latin typeface="Arial" pitchFamily="34" charset="0"/>
                <a:cs typeface="Arial" pitchFamily="34" charset="0"/>
              </a:rPr>
              <a:t>BMI 6313: Scientific Writing in Healthcare</a:t>
            </a:r>
          </a:p>
        </p:txBody>
      </p:sp>
      <p:sp>
        <p:nvSpPr>
          <p:cNvPr id="2062" name="TextBox 19"/>
          <p:cNvSpPr txBox="1">
            <a:spLocks noChangeArrowheads="1"/>
          </p:cNvSpPr>
          <p:nvPr/>
        </p:nvSpPr>
        <p:spPr bwMode="auto">
          <a:xfrm>
            <a:off x="6858000" y="438150"/>
            <a:ext cx="32461200" cy="1979298"/>
          </a:xfrm>
          <a:prstGeom prst="rect">
            <a:avLst/>
          </a:prstGeom>
          <a:noFill/>
          <a:ln w="9525">
            <a:noFill/>
            <a:miter lim="800000"/>
            <a:headEnd/>
            <a:tailEnd/>
          </a:ln>
        </p:spPr>
        <p:txBody>
          <a:bodyPr wrap="square" lIns="100875" tIns="50438" rIns="100875" bIns="50438">
            <a:spAutoFit/>
          </a:bodyPr>
          <a:lstStyle/>
          <a:p>
            <a:pPr algn="ctr"/>
            <a:r>
              <a:rPr lang="en-US" b="1" dirty="0">
                <a:solidFill>
                  <a:schemeClr val="bg1"/>
                </a:solidFill>
                <a:latin typeface="Arial" pitchFamily="34" charset="0"/>
                <a:cs typeface="Arial" pitchFamily="34" charset="0"/>
              </a:rPr>
              <a:t>Early TEFCA Participation Was Not Associated With Lower Hospital Mortality</a:t>
            </a:r>
          </a:p>
          <a:p>
            <a:pPr algn="ctr"/>
            <a:r>
              <a:rPr lang="en-US" sz="5400" i="1" dirty="0">
                <a:solidFill>
                  <a:schemeClr val="bg1"/>
                </a:solidFill>
              </a:rPr>
              <a:t>A Cross-sectional analysis of 691 U.S. hospitals</a:t>
            </a:r>
            <a:endParaRPr lang="en-US" sz="5400" i="1" dirty="0">
              <a:solidFill>
                <a:schemeClr val="bg1"/>
              </a:solidFill>
              <a:latin typeface="Arial" pitchFamily="34" charset="0"/>
              <a:cs typeface="Arial" pitchFamily="34" charset="0"/>
            </a:endParaRPr>
          </a:p>
        </p:txBody>
      </p:sp>
      <p:sp>
        <p:nvSpPr>
          <p:cNvPr id="33" name="Text Box 45"/>
          <p:cNvSpPr txBox="1">
            <a:spLocks noChangeArrowheads="1"/>
          </p:cNvSpPr>
          <p:nvPr/>
        </p:nvSpPr>
        <p:spPr bwMode="auto">
          <a:xfrm>
            <a:off x="26517600" y="5279824"/>
            <a:ext cx="16568928" cy="808278"/>
          </a:xfrm>
          <a:prstGeom prst="rect">
            <a:avLst/>
          </a:prstGeom>
          <a:solidFill>
            <a:srgbClr val="AE6042"/>
          </a:solidFill>
          <a:ln w="12700">
            <a:noFill/>
            <a:miter lim="800000"/>
            <a:headEnd/>
            <a:tailEnd/>
          </a:ln>
        </p:spPr>
        <p:txBody>
          <a:bodyPr wrap="square" lIns="100875" tIns="50438" rIns="100875" bIns="50438" anchor="ctr">
            <a:spAutoFit/>
          </a:bodyPr>
          <a:lstStyle>
            <a:defPPr>
              <a:defRPr lang="en-US"/>
            </a:defPPr>
            <a:lvl1pPr algn="ctr" defTabSz="5016500">
              <a:spcBef>
                <a:spcPct val="50000"/>
              </a:spcBef>
              <a:defRPr sz="3600">
                <a:solidFill>
                  <a:schemeClr val="bg1"/>
                </a:solidFill>
                <a:latin typeface="Calibri" pitchFamily="34" charset="0"/>
                <a:cs typeface="Calibri" pitchFamily="34" charset="0"/>
              </a:defRPr>
            </a:lvl1pPr>
          </a:lstStyle>
          <a:p>
            <a:r>
              <a:rPr lang="en-US" sz="4500" dirty="0">
                <a:latin typeface="Arial" pitchFamily="34" charset="0"/>
                <a:cs typeface="Arial" pitchFamily="34" charset="0"/>
              </a:rPr>
              <a:t>Results</a:t>
            </a:r>
          </a:p>
        </p:txBody>
      </p:sp>
      <p:sp>
        <p:nvSpPr>
          <p:cNvPr id="34" name="Text Box 90"/>
          <p:cNvSpPr txBox="1">
            <a:spLocks noChangeArrowheads="1"/>
          </p:cNvSpPr>
          <p:nvPr/>
        </p:nvSpPr>
        <p:spPr bwMode="auto">
          <a:xfrm>
            <a:off x="26462255" y="6341858"/>
            <a:ext cx="8458200" cy="5857283"/>
          </a:xfrm>
          <a:prstGeom prst="rect">
            <a:avLst/>
          </a:prstGeom>
          <a:noFill/>
          <a:ln w="9525">
            <a:noFill/>
            <a:miter lim="800000"/>
            <a:headEnd/>
            <a:tailEnd/>
          </a:ln>
        </p:spPr>
        <p:txBody>
          <a:bodyPr wrap="square" lIns="0" tIns="50438" rIns="0" bIns="50438">
            <a:spAutoFit/>
          </a:bodyPr>
          <a:lstStyle/>
          <a:p>
            <a:pPr defTabSz="3458871">
              <a:spcBef>
                <a:spcPct val="50000"/>
              </a:spcBef>
            </a:pPr>
            <a:r>
              <a:rPr lang="en-US" sz="3400" b="1" dirty="0">
                <a:latin typeface="Arial" pitchFamily="34" charset="0"/>
                <a:cs typeface="Arial" pitchFamily="34" charset="0"/>
              </a:rPr>
              <a:t>Primary analysis</a:t>
            </a:r>
            <a:r>
              <a:rPr lang="en-US" sz="3400" dirty="0">
                <a:latin typeface="Arial" pitchFamily="34" charset="0"/>
                <a:cs typeface="Arial" pitchFamily="34" charset="0"/>
              </a:rPr>
              <a:t>. Among 691 hospitals, 112 (16.2%) reported current TEFCA participation, 289 (41.8%) planned participation, and 290 (42.0%) neither current nor planned. In the adjusted primary model, current participation was associated with a 0.108-point higher Hybrid HWM score than planned participation (95% CI, 0.001–0.216; </a:t>
            </a:r>
            <a:r>
              <a:rPr lang="en-US" sz="3400" i="1" dirty="0">
                <a:latin typeface="Arial" pitchFamily="34" charset="0"/>
                <a:cs typeface="Arial" pitchFamily="34" charset="0"/>
              </a:rPr>
              <a:t>p</a:t>
            </a:r>
            <a:r>
              <a:rPr lang="en-US" sz="3400" dirty="0">
                <a:latin typeface="Arial" pitchFamily="34" charset="0"/>
                <a:cs typeface="Arial" pitchFamily="34" charset="0"/>
              </a:rPr>
              <a:t> = .047). The estimate, therefore, did not support lower mortality with current participation.</a:t>
            </a:r>
          </a:p>
        </p:txBody>
      </p:sp>
      <p:sp>
        <p:nvSpPr>
          <p:cNvPr id="2051" name="Text Box 41"/>
          <p:cNvSpPr txBox="1">
            <a:spLocks noChangeArrowheads="1"/>
          </p:cNvSpPr>
          <p:nvPr/>
        </p:nvSpPr>
        <p:spPr bwMode="auto">
          <a:xfrm>
            <a:off x="365760" y="5954714"/>
            <a:ext cx="13350240" cy="808277"/>
          </a:xfrm>
          <a:prstGeom prst="rect">
            <a:avLst/>
          </a:prstGeom>
          <a:solidFill>
            <a:srgbClr val="AE6042"/>
          </a:solidFill>
          <a:ln w="12700">
            <a:noFill/>
            <a:miter lim="800000"/>
            <a:headEnd/>
            <a:tailEnd/>
          </a:ln>
        </p:spPr>
        <p:txBody>
          <a:bodyPr wrap="square" lIns="100875" tIns="50438" rIns="100875" bIns="50438" anchor="ctr">
            <a:spAutoFit/>
          </a:bodyPr>
          <a:lstStyle/>
          <a:p>
            <a:pPr algn="ctr" defTabSz="5534194">
              <a:spcBef>
                <a:spcPct val="50000"/>
              </a:spcBef>
            </a:pPr>
            <a:r>
              <a:rPr lang="en-US" sz="4500" dirty="0">
                <a:solidFill>
                  <a:schemeClr val="bg1"/>
                </a:solidFill>
                <a:latin typeface="Arial" pitchFamily="34" charset="0"/>
                <a:cs typeface="Arial" pitchFamily="34" charset="0"/>
              </a:rPr>
              <a:t>Background &amp; Objective</a:t>
            </a:r>
          </a:p>
        </p:txBody>
      </p:sp>
      <p:sp>
        <p:nvSpPr>
          <p:cNvPr id="27" name="Text Box 45"/>
          <p:cNvSpPr txBox="1">
            <a:spLocks noChangeArrowheads="1"/>
          </p:cNvSpPr>
          <p:nvPr/>
        </p:nvSpPr>
        <p:spPr bwMode="auto">
          <a:xfrm>
            <a:off x="14173200" y="5281083"/>
            <a:ext cx="11887200" cy="794358"/>
          </a:xfrm>
          <a:prstGeom prst="rect">
            <a:avLst/>
          </a:prstGeom>
          <a:solidFill>
            <a:srgbClr val="AE6042"/>
          </a:solidFill>
          <a:ln w="12700">
            <a:noFill/>
            <a:miter lim="800000"/>
            <a:headEnd/>
            <a:tailEnd/>
          </a:ln>
        </p:spPr>
        <p:txBody>
          <a:bodyPr wrap="square" lIns="100875" tIns="50438" rIns="100875" bIns="50438" anchor="ctr">
            <a:spAutoFit/>
          </a:bodyPr>
          <a:lstStyle>
            <a:defPPr>
              <a:defRPr lang="en-US"/>
            </a:defPPr>
            <a:lvl1pPr algn="ctr" defTabSz="5016500">
              <a:spcBef>
                <a:spcPct val="50000"/>
              </a:spcBef>
              <a:defRPr sz="3600">
                <a:solidFill>
                  <a:schemeClr val="bg1"/>
                </a:solidFill>
                <a:latin typeface="Calibri" pitchFamily="34" charset="0"/>
                <a:cs typeface="Calibri" pitchFamily="34" charset="0"/>
              </a:defRPr>
            </a:lvl1pPr>
          </a:lstStyle>
          <a:p>
            <a:r>
              <a:rPr lang="en-US" sz="4500" dirty="0">
                <a:latin typeface="Arial" pitchFamily="34" charset="0"/>
                <a:cs typeface="Arial" pitchFamily="34" charset="0"/>
              </a:rPr>
              <a:t>Methods</a:t>
            </a:r>
          </a:p>
        </p:txBody>
      </p:sp>
      <p:sp>
        <p:nvSpPr>
          <p:cNvPr id="35" name="Text Box 90"/>
          <p:cNvSpPr txBox="1">
            <a:spLocks noChangeArrowheads="1"/>
          </p:cNvSpPr>
          <p:nvPr/>
        </p:nvSpPr>
        <p:spPr bwMode="auto">
          <a:xfrm>
            <a:off x="14109192" y="11915390"/>
            <a:ext cx="11887200" cy="2841073"/>
          </a:xfrm>
          <a:prstGeom prst="rect">
            <a:avLst/>
          </a:prstGeom>
          <a:noFill/>
          <a:ln w="9525">
            <a:noFill/>
            <a:miter lim="800000"/>
            <a:headEnd/>
            <a:tailEnd/>
          </a:ln>
        </p:spPr>
        <p:txBody>
          <a:bodyPr wrap="square" lIns="0" tIns="50438" rIns="0" bIns="50438">
            <a:spAutoFit/>
          </a:bodyPr>
          <a:lstStyle/>
          <a:p>
            <a:pPr defTabSz="3458871">
              <a:spcBef>
                <a:spcPct val="50000"/>
              </a:spcBef>
            </a:pPr>
            <a:r>
              <a:rPr lang="en-US" sz="2800" b="1" dirty="0">
                <a:latin typeface="Arial" pitchFamily="34" charset="0"/>
                <a:cs typeface="Arial" pitchFamily="34" charset="0"/>
              </a:rPr>
              <a:t>Figure 1. </a:t>
            </a:r>
            <a:r>
              <a:rPr lang="en-US" sz="2800" dirty="0">
                <a:latin typeface="Arial" pitchFamily="34" charset="0"/>
                <a:cs typeface="Arial" pitchFamily="34" charset="0"/>
              </a:rPr>
              <a:t>Data linkage and analytic workflow.</a:t>
            </a:r>
          </a:p>
          <a:p>
            <a:pPr defTabSz="3458871">
              <a:spcBef>
                <a:spcPct val="50000"/>
              </a:spcBef>
            </a:pPr>
            <a:r>
              <a:rPr lang="en-US" sz="3200" dirty="0">
                <a:latin typeface="Arial" pitchFamily="34" charset="0"/>
                <a:cs typeface="Arial" pitchFamily="34" charset="0"/>
              </a:rPr>
              <a:t>Models adjusted for national-network, EHR vendor-network, and HIO participation; log CMS denominator; state; and survey year</a:t>
            </a:r>
            <a:r>
              <a:rPr lang="en-US" sz="2600" dirty="0">
                <a:latin typeface="Arial" pitchFamily="34" charset="0"/>
                <a:cs typeface="Arial" pitchFamily="34" charset="0"/>
              </a:rPr>
              <a:t>.</a:t>
            </a:r>
          </a:p>
          <a:p>
            <a:pPr defTabSz="3458871">
              <a:spcBef>
                <a:spcPct val="50000"/>
              </a:spcBef>
            </a:pPr>
            <a:r>
              <a:rPr lang="en-US" sz="2800" i="1" dirty="0">
                <a:latin typeface="Arial" pitchFamily="34" charset="0"/>
                <a:cs typeface="Arial" pitchFamily="34" charset="0"/>
              </a:rPr>
              <a:t>Note. </a:t>
            </a:r>
            <a:r>
              <a:rPr lang="en-US" sz="2800" dirty="0">
                <a:latin typeface="Arial" pitchFamily="34" charset="0"/>
                <a:cs typeface="Arial" pitchFamily="34" charset="0"/>
              </a:rPr>
              <a:t>Missing TEFCA and other network-participation responses were coded as nonparticipation.</a:t>
            </a:r>
          </a:p>
        </p:txBody>
      </p:sp>
      <p:sp>
        <p:nvSpPr>
          <p:cNvPr id="19" name="Text Box 45"/>
          <p:cNvSpPr txBox="1">
            <a:spLocks noChangeArrowheads="1"/>
          </p:cNvSpPr>
          <p:nvPr/>
        </p:nvSpPr>
        <p:spPr bwMode="auto">
          <a:xfrm>
            <a:off x="33147000" y="14859000"/>
            <a:ext cx="9939528" cy="808277"/>
          </a:xfrm>
          <a:prstGeom prst="rect">
            <a:avLst/>
          </a:prstGeom>
          <a:solidFill>
            <a:srgbClr val="AE6042"/>
          </a:solidFill>
          <a:ln w="12700">
            <a:noFill/>
            <a:miter lim="800000"/>
            <a:headEnd/>
            <a:tailEnd/>
          </a:ln>
        </p:spPr>
        <p:txBody>
          <a:bodyPr wrap="square" lIns="100875" tIns="50438" rIns="100875" bIns="50438" anchor="ctr">
            <a:spAutoFit/>
          </a:bodyPr>
          <a:lstStyle>
            <a:defPPr>
              <a:defRPr lang="en-US"/>
            </a:defPPr>
            <a:lvl1pPr algn="ctr" defTabSz="5016500">
              <a:spcBef>
                <a:spcPct val="50000"/>
              </a:spcBef>
              <a:defRPr sz="3600">
                <a:solidFill>
                  <a:schemeClr val="bg1"/>
                </a:solidFill>
                <a:latin typeface="Calibri" pitchFamily="34" charset="0"/>
                <a:cs typeface="Calibri" pitchFamily="34" charset="0"/>
              </a:defRPr>
            </a:lvl1pPr>
          </a:lstStyle>
          <a:p>
            <a:r>
              <a:rPr lang="en-US" sz="4500" dirty="0">
                <a:latin typeface="Arial" pitchFamily="34" charset="0"/>
                <a:cs typeface="Arial" pitchFamily="34" charset="0"/>
              </a:rPr>
              <a:t>Conclusion</a:t>
            </a:r>
          </a:p>
        </p:txBody>
      </p:sp>
      <p:sp>
        <p:nvSpPr>
          <p:cNvPr id="20" name="Text Box 45"/>
          <p:cNvSpPr txBox="1">
            <a:spLocks noChangeArrowheads="1"/>
          </p:cNvSpPr>
          <p:nvPr/>
        </p:nvSpPr>
        <p:spPr bwMode="auto">
          <a:xfrm>
            <a:off x="33147000" y="27423615"/>
            <a:ext cx="10012680" cy="808277"/>
          </a:xfrm>
          <a:prstGeom prst="rect">
            <a:avLst/>
          </a:prstGeom>
          <a:solidFill>
            <a:srgbClr val="AE6042"/>
          </a:solidFill>
          <a:ln w="12700">
            <a:noFill/>
            <a:miter lim="800000"/>
            <a:headEnd/>
            <a:tailEnd/>
          </a:ln>
        </p:spPr>
        <p:txBody>
          <a:bodyPr wrap="square" lIns="100875" tIns="50438" rIns="100875" bIns="50438" anchor="ctr">
            <a:spAutoFit/>
          </a:bodyPr>
          <a:lstStyle>
            <a:defPPr>
              <a:defRPr lang="en-US"/>
            </a:defPPr>
            <a:lvl1pPr algn="ctr" defTabSz="5016500">
              <a:spcBef>
                <a:spcPct val="50000"/>
              </a:spcBef>
              <a:defRPr sz="3600">
                <a:solidFill>
                  <a:schemeClr val="bg1"/>
                </a:solidFill>
                <a:latin typeface="Calibri" pitchFamily="34" charset="0"/>
                <a:cs typeface="Calibri" pitchFamily="34" charset="0"/>
              </a:defRPr>
            </a:lvl1pPr>
          </a:lstStyle>
          <a:p>
            <a:r>
              <a:rPr lang="en-US" sz="4500" dirty="0">
                <a:latin typeface="Arial" pitchFamily="34" charset="0"/>
                <a:cs typeface="Arial" pitchFamily="34" charset="0"/>
              </a:rPr>
              <a:t>ACKNOWLEDGEMENTS</a:t>
            </a:r>
          </a:p>
        </p:txBody>
      </p:sp>
      <p:sp>
        <p:nvSpPr>
          <p:cNvPr id="21" name="Text Box 90"/>
          <p:cNvSpPr txBox="1">
            <a:spLocks noChangeArrowheads="1"/>
          </p:cNvSpPr>
          <p:nvPr/>
        </p:nvSpPr>
        <p:spPr bwMode="auto">
          <a:xfrm>
            <a:off x="365760" y="6808803"/>
            <a:ext cx="13350240" cy="5595673"/>
          </a:xfrm>
          <a:prstGeom prst="rect">
            <a:avLst/>
          </a:prstGeom>
          <a:noFill/>
          <a:ln w="9525">
            <a:noFill/>
            <a:miter lim="800000"/>
            <a:headEnd/>
            <a:tailEnd/>
          </a:ln>
        </p:spPr>
        <p:txBody>
          <a:bodyPr wrap="square" lIns="0" tIns="50438" rIns="0" bIns="50438">
            <a:spAutoFit/>
          </a:bodyPr>
          <a:lstStyle/>
          <a:p>
            <a:pPr defTabSz="3458871">
              <a:spcBef>
                <a:spcPct val="50000"/>
              </a:spcBef>
            </a:pPr>
            <a:r>
              <a:rPr lang="en-US" sz="3400" dirty="0">
                <a:latin typeface="Arial" pitchFamily="34" charset="0"/>
                <a:cs typeface="Arial" pitchFamily="34" charset="0"/>
              </a:rPr>
              <a:t>The Trusted Exchange Framework and Common Agreement (TEFCA) was established to support nationwide electronic health information exchange through a network-of-networks via Qualified Health Information Networks (QHINs). But evidence about hospital outcomes during its early implementation remains limited.</a:t>
            </a:r>
          </a:p>
          <a:p>
            <a:pPr defTabSz="3458871">
              <a:spcBef>
                <a:spcPct val="50000"/>
              </a:spcBef>
            </a:pPr>
            <a:r>
              <a:rPr lang="en-US" sz="3400" b="1" dirty="0">
                <a:latin typeface="Arial" pitchFamily="34" charset="0"/>
                <a:cs typeface="Arial" pitchFamily="34" charset="0"/>
              </a:rPr>
              <a:t>Objective: </a:t>
            </a:r>
            <a:r>
              <a:rPr lang="en-US" sz="3400" dirty="0">
                <a:latin typeface="Arial" pitchFamily="34" charset="0"/>
                <a:cs typeface="Arial" pitchFamily="34" charset="0"/>
              </a:rPr>
              <a:t>Examine whether TEFCA participation, compared with planned participation, was associated with CMS Hybrid Hospital-Wide 30-Day Mortality among U.S. non-federal acute care hospitals. Heart failure and pneumonia mortality were evaluated as secondary outcomes.</a:t>
            </a:r>
          </a:p>
        </p:txBody>
      </p:sp>
      <p:sp>
        <p:nvSpPr>
          <p:cNvPr id="30" name="Text Box 90"/>
          <p:cNvSpPr txBox="1">
            <a:spLocks noChangeArrowheads="1"/>
          </p:cNvSpPr>
          <p:nvPr/>
        </p:nvSpPr>
        <p:spPr bwMode="auto">
          <a:xfrm>
            <a:off x="33357312" y="15762301"/>
            <a:ext cx="9509760" cy="11351094"/>
          </a:xfrm>
          <a:prstGeom prst="rect">
            <a:avLst/>
          </a:prstGeom>
          <a:noFill/>
          <a:ln w="9525">
            <a:noFill/>
            <a:miter lim="800000"/>
            <a:headEnd/>
            <a:tailEnd/>
          </a:ln>
        </p:spPr>
        <p:txBody>
          <a:bodyPr wrap="square" lIns="0" tIns="50438" rIns="0" bIns="50438">
            <a:spAutoFit/>
          </a:bodyPr>
          <a:lstStyle/>
          <a:p>
            <a:pPr defTabSz="3458871">
              <a:spcBef>
                <a:spcPct val="50000"/>
              </a:spcBef>
            </a:pPr>
            <a:r>
              <a:rPr lang="en-US" sz="3400" dirty="0">
                <a:latin typeface="Arial" pitchFamily="34" charset="0"/>
                <a:cs typeface="Arial" pitchFamily="34" charset="0"/>
              </a:rPr>
              <a:t>In this early hospital-level analysis, current TEFCA participation was not robustly associated with lower mortality than planned participation. The small positive Hybrid HWM estimate was sensitive to the standard-error method and was not reproduced for heart failure or pneumonia mortality; therefore, it should not be interpreted as evidence that TEFCA increased mortality.</a:t>
            </a:r>
          </a:p>
          <a:p>
            <a:pPr defTabSz="3458871">
              <a:spcBef>
                <a:spcPct val="50000"/>
              </a:spcBef>
            </a:pPr>
            <a:r>
              <a:rPr lang="en-US" sz="3400" dirty="0">
                <a:latin typeface="Arial" pitchFamily="34" charset="0"/>
                <a:cs typeface="Arial" pitchFamily="34" charset="0"/>
              </a:rPr>
              <a:t>Because planned hospitals could already participate in other exchange networks, this was not a comparison of TEFCA with no electronic exchange. EHR vendor-network participation was associated with lower Hybrid HWM, suggesting—but not proving—that more established exchange infrastructure or workflow integration may be relevant. Overall, reported participation alone may be an incomplete measure of effective information exchange. Longitudinal studies incorporating sustained TEFCA use, actual exchange activity, and later clinical outcomes are needed as implementation matures.</a:t>
            </a:r>
          </a:p>
        </p:txBody>
      </p:sp>
      <p:sp>
        <p:nvSpPr>
          <p:cNvPr id="22" name="Text Box 90"/>
          <p:cNvSpPr txBox="1">
            <a:spLocks noChangeArrowheads="1"/>
          </p:cNvSpPr>
          <p:nvPr/>
        </p:nvSpPr>
        <p:spPr bwMode="auto">
          <a:xfrm>
            <a:off x="33147000" y="28231892"/>
            <a:ext cx="10012680" cy="3609290"/>
          </a:xfrm>
          <a:prstGeom prst="rect">
            <a:avLst/>
          </a:prstGeom>
          <a:noFill/>
          <a:ln w="9525">
            <a:noFill/>
            <a:miter lim="800000"/>
            <a:headEnd/>
            <a:tailEnd/>
          </a:ln>
        </p:spPr>
        <p:txBody>
          <a:bodyPr wrap="square" lIns="0" tIns="38402" rIns="0" bIns="38402">
            <a:spAutoFit/>
          </a:bodyPr>
          <a:lstStyle/>
          <a:p>
            <a:pPr defTabSz="2633525">
              <a:spcBef>
                <a:spcPct val="50000"/>
              </a:spcBef>
            </a:pPr>
            <a:r>
              <a:rPr lang="en-US" sz="2700" dirty="0">
                <a:latin typeface="Arial" pitchFamily="34" charset="0"/>
                <a:cs typeface="Arial" pitchFamily="34" charset="0"/>
              </a:rPr>
              <a:t>I thank the BMI 6313 instructor and teaching assistant for instruction in scientific writing, motivation, and recommendations for publicly available data resources; the peer reviewers for their feedback; and ONC and CMS for making their datasets publicly available.</a:t>
            </a:r>
          </a:p>
          <a:p>
            <a:pPr defTabSz="2633525">
              <a:spcBef>
                <a:spcPct val="50000"/>
              </a:spcBef>
            </a:pPr>
            <a:r>
              <a:rPr lang="en-US" sz="2700" b="1" dirty="0">
                <a:latin typeface="Arial" pitchFamily="34" charset="0"/>
                <a:cs typeface="Arial" pitchFamily="34" charset="0"/>
              </a:rPr>
              <a:t>Generative AI disclosure. </a:t>
            </a:r>
            <a:r>
              <a:rPr lang="en-US" sz="2700" dirty="0">
                <a:latin typeface="Arial" pitchFamily="34" charset="0"/>
                <a:cs typeface="Arial" pitchFamily="34" charset="0"/>
              </a:rPr>
              <a:t>ChatGPT (OpenAI) assisted with statistical analysis and code development, interpretation, and editing; all outputs were reviewed and verified by the author.</a:t>
            </a:r>
          </a:p>
        </p:txBody>
      </p:sp>
      <p:sp>
        <p:nvSpPr>
          <p:cNvPr id="25" name="Text Box 90"/>
          <p:cNvSpPr txBox="1">
            <a:spLocks noChangeArrowheads="1"/>
          </p:cNvSpPr>
          <p:nvPr/>
        </p:nvSpPr>
        <p:spPr bwMode="auto">
          <a:xfrm>
            <a:off x="33203829" y="31978211"/>
            <a:ext cx="9966962" cy="671248"/>
          </a:xfrm>
          <a:prstGeom prst="rect">
            <a:avLst/>
          </a:prstGeom>
          <a:noFill/>
          <a:ln w="9525">
            <a:noFill/>
            <a:miter lim="800000"/>
            <a:headEnd/>
            <a:tailEnd/>
          </a:ln>
        </p:spPr>
        <p:txBody>
          <a:bodyPr wrap="square" lIns="0" tIns="50438" rIns="0" bIns="50438">
            <a:spAutoFit/>
          </a:bodyPr>
          <a:lstStyle/>
          <a:p>
            <a:pPr defTabSz="3458871">
              <a:spcBef>
                <a:spcPts val="0"/>
              </a:spcBef>
            </a:pPr>
            <a:r>
              <a:rPr lang="en-US" sz="3700" b="1" i="1" dirty="0">
                <a:solidFill>
                  <a:srgbClr val="C15017"/>
                </a:solidFill>
                <a:latin typeface="Arial" pitchFamily="34" charset="0"/>
                <a:cs typeface="Arial" pitchFamily="34" charset="0"/>
              </a:rPr>
              <a:t>Contact: </a:t>
            </a:r>
            <a:r>
              <a:rPr lang="en-US" sz="3700" i="1" dirty="0">
                <a:solidFill>
                  <a:srgbClr val="C15017"/>
                </a:solidFill>
                <a:latin typeface="Arial" pitchFamily="34" charset="0"/>
                <a:cs typeface="Arial" pitchFamily="34" charset="0"/>
              </a:rPr>
              <a:t>jordan.a.pulaski@uth.tmc.edu</a:t>
            </a:r>
          </a:p>
        </p:txBody>
      </p:sp>
      <p:sp>
        <p:nvSpPr>
          <p:cNvPr id="28" name="Text Box 45"/>
          <p:cNvSpPr txBox="1">
            <a:spLocks noChangeArrowheads="1"/>
          </p:cNvSpPr>
          <p:nvPr/>
        </p:nvSpPr>
        <p:spPr bwMode="auto">
          <a:xfrm>
            <a:off x="21579841" y="14859000"/>
            <a:ext cx="11109959" cy="808277"/>
          </a:xfrm>
          <a:prstGeom prst="rect">
            <a:avLst/>
          </a:prstGeom>
          <a:solidFill>
            <a:srgbClr val="AE6042"/>
          </a:solidFill>
          <a:ln w="12700">
            <a:noFill/>
            <a:miter lim="800000"/>
            <a:headEnd/>
            <a:tailEnd/>
          </a:ln>
        </p:spPr>
        <p:txBody>
          <a:bodyPr wrap="square" lIns="100875" tIns="50438" rIns="100875" bIns="50438" anchor="ctr">
            <a:spAutoFit/>
          </a:bodyPr>
          <a:lstStyle>
            <a:defPPr>
              <a:defRPr lang="en-US"/>
            </a:defPPr>
            <a:lvl1pPr algn="ctr" defTabSz="5016500">
              <a:spcBef>
                <a:spcPct val="50000"/>
              </a:spcBef>
              <a:defRPr sz="3600">
                <a:solidFill>
                  <a:schemeClr val="bg1"/>
                </a:solidFill>
                <a:latin typeface="Calibri" pitchFamily="34" charset="0"/>
                <a:cs typeface="Calibri" pitchFamily="34" charset="0"/>
              </a:defRPr>
            </a:lvl1pPr>
          </a:lstStyle>
          <a:p>
            <a:r>
              <a:rPr lang="en-US" sz="4500" dirty="0">
                <a:latin typeface="Arial" pitchFamily="34" charset="0"/>
                <a:cs typeface="Arial" pitchFamily="34" charset="0"/>
              </a:rPr>
              <a:t>Interpretations &amp; Limitations</a:t>
            </a:r>
          </a:p>
        </p:txBody>
      </p:sp>
      <p:sp>
        <p:nvSpPr>
          <p:cNvPr id="29" name="Text Box 90"/>
          <p:cNvSpPr txBox="1">
            <a:spLocks noChangeArrowheads="1"/>
          </p:cNvSpPr>
          <p:nvPr/>
        </p:nvSpPr>
        <p:spPr bwMode="auto">
          <a:xfrm>
            <a:off x="21774246" y="15824406"/>
            <a:ext cx="10721145" cy="16844906"/>
          </a:xfrm>
          <a:prstGeom prst="rect">
            <a:avLst/>
          </a:prstGeom>
          <a:noFill/>
          <a:ln w="9525">
            <a:noFill/>
            <a:miter lim="800000"/>
            <a:headEnd/>
            <a:tailEnd/>
          </a:ln>
        </p:spPr>
        <p:txBody>
          <a:bodyPr wrap="square" lIns="0" tIns="50438" rIns="0" bIns="50438">
            <a:spAutoFit/>
          </a:bodyPr>
          <a:lstStyle/>
          <a:p>
            <a:pPr defTabSz="3458871">
              <a:spcBef>
                <a:spcPct val="50000"/>
              </a:spcBef>
            </a:pPr>
            <a:r>
              <a:rPr lang="en-US" sz="3400" b="1" dirty="0">
                <a:latin typeface="Arial" pitchFamily="34" charset="0"/>
                <a:cs typeface="Arial" pitchFamily="34" charset="0"/>
              </a:rPr>
              <a:t>Interpretation. </a:t>
            </a:r>
            <a:r>
              <a:rPr lang="en-US" sz="3400" dirty="0">
                <a:latin typeface="Arial" pitchFamily="34" charset="0"/>
                <a:cs typeface="Arial" pitchFamily="34" charset="0"/>
              </a:rPr>
              <a:t>Early participation in TEFCA was not robustly associated with lower mortality than planned participation. The small positive estimate should not be interpreted as evidence of harm: its statistical significance was sensitive to the standard-error method, and it was not reproduced for secondary outcomes. Clinical effects may require more time, fuller adoption, and routine exchange use to emerge.</a:t>
            </a:r>
          </a:p>
          <a:p>
            <a:pPr defTabSz="3458871">
              <a:spcBef>
                <a:spcPct val="50000"/>
              </a:spcBef>
            </a:pPr>
            <a:r>
              <a:rPr lang="en-US" sz="3400" dirty="0">
                <a:latin typeface="Arial" pitchFamily="34" charset="0"/>
                <a:cs typeface="Arial" pitchFamily="34" charset="0"/>
              </a:rPr>
              <a:t>EHR vendor-network participation was associated with lower Hybrid HWM, possibly reflecting more established exchange infrastructure or workflow integration, but this secondary finding does not establish causality.</a:t>
            </a:r>
          </a:p>
          <a:p>
            <a:pPr defTabSz="3458871">
              <a:spcBef>
                <a:spcPct val="50000"/>
              </a:spcBef>
            </a:pPr>
            <a:endParaRPr lang="en-US" sz="3400" dirty="0">
              <a:latin typeface="Arial" pitchFamily="34" charset="0"/>
              <a:cs typeface="Arial" pitchFamily="34" charset="0"/>
            </a:endParaRPr>
          </a:p>
          <a:p>
            <a:r>
              <a:rPr lang="en-US" sz="3400" b="1" dirty="0"/>
              <a:t>Limitations.</a:t>
            </a:r>
          </a:p>
          <a:p>
            <a:endParaRPr lang="en-US" sz="3400" b="1" dirty="0"/>
          </a:p>
          <a:p>
            <a:pPr marL="457200" indent="-457200">
              <a:buFont typeface="Arial" panose="020B0604020202020204" pitchFamily="34" charset="0"/>
              <a:buChar char="•"/>
            </a:pPr>
            <a:r>
              <a:rPr lang="en-US" sz="3400" dirty="0"/>
              <a:t>Cross-sectional hospital-level associations do not establish causality or within-hospital change.</a:t>
            </a:r>
          </a:p>
          <a:p>
            <a:pPr marL="457200" indent="-457200">
              <a:buFont typeface="Arial" panose="020B0604020202020204" pitchFamily="34" charset="0"/>
              <a:buChar char="•"/>
            </a:pPr>
            <a:r>
              <a:rPr lang="en-US" sz="3400" dirty="0"/>
              <a:t>Survey responses captured reported participation—not exchange volume, duration, data quality, or workflow integration.</a:t>
            </a:r>
          </a:p>
          <a:p>
            <a:pPr marL="457200" indent="-457200">
              <a:buFont typeface="Arial" panose="020B0604020202020204" pitchFamily="34" charset="0"/>
              <a:buChar char="•"/>
            </a:pPr>
            <a:r>
              <a:rPr lang="en-US" sz="3400" dirty="0"/>
              <a:t>Planned hospitals may already use other exchange networks, narrowing the contrast.</a:t>
            </a:r>
          </a:p>
          <a:p>
            <a:pPr marL="457200" indent="-457200">
              <a:buFont typeface="Arial" panose="020B0604020202020204" pitchFamily="34" charset="0"/>
              <a:buChar char="•"/>
            </a:pPr>
            <a:r>
              <a:rPr lang="en-US" sz="3400" dirty="0"/>
              <a:t>Unmeasured hospital characteristics may confound estimates.</a:t>
            </a:r>
          </a:p>
          <a:p>
            <a:pPr marL="457200" indent="-457200">
              <a:buFont typeface="Arial" panose="020B0604020202020204" pitchFamily="34" charset="0"/>
              <a:buChar char="•"/>
            </a:pPr>
            <a:r>
              <a:rPr lang="en-US" sz="3400" dirty="0"/>
              <a:t>The CMS primary outcome window was not wholly post-TEFCA, and the secondary outcome window largely predated TEFCA implementation.</a:t>
            </a:r>
          </a:p>
          <a:p>
            <a:endParaRPr lang="en-US" sz="3400" b="1" dirty="0"/>
          </a:p>
          <a:p>
            <a:r>
              <a:rPr lang="en-US" sz="3400" b="1" dirty="0"/>
              <a:t>Future work</a:t>
            </a:r>
            <a:r>
              <a:rPr lang="en-US" sz="3400" dirty="0"/>
              <a:t>. Longitudinal studies should evaluate sustained TEFCA use, actual exchange activity, and subsequent clinical outcomes.</a:t>
            </a:r>
            <a:endParaRPr lang="en-US" sz="3400" dirty="0">
              <a:latin typeface="Arial" pitchFamily="34" charset="0"/>
              <a:cs typeface="Arial" pitchFamily="34" charset="0"/>
            </a:endParaRPr>
          </a:p>
        </p:txBody>
      </p:sp>
      <p:cxnSp>
        <p:nvCxnSpPr>
          <p:cNvPr id="5" name="Straight Connector 4"/>
          <p:cNvCxnSpPr>
            <a:cxnSpLocks/>
          </p:cNvCxnSpPr>
          <p:nvPr/>
        </p:nvCxnSpPr>
        <p:spPr bwMode="auto">
          <a:xfrm>
            <a:off x="8001000" y="2514600"/>
            <a:ext cx="29946600" cy="0"/>
          </a:xfrm>
          <a:prstGeom prst="lin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graphicFrame>
        <p:nvGraphicFramePr>
          <p:cNvPr id="9" name="Table 8">
            <a:extLst>
              <a:ext uri="{FF2B5EF4-FFF2-40B4-BE49-F238E27FC236}">
                <a16:creationId xmlns:a16="http://schemas.microsoft.com/office/drawing/2014/main" id="{C91030CC-5967-3D82-32C6-E8F574FD0450}"/>
              </a:ext>
            </a:extLst>
          </p:cNvPr>
          <p:cNvGraphicFramePr>
            <a:graphicFrameLocks noGrp="1"/>
          </p:cNvGraphicFramePr>
          <p:nvPr>
            <p:extLst>
              <p:ext uri="{D42A27DB-BD31-4B8C-83A1-F6EECF244321}">
                <p14:modId xmlns:p14="http://schemas.microsoft.com/office/powerpoint/2010/main" val="2769405288"/>
              </p:ext>
            </p:extLst>
          </p:nvPr>
        </p:nvGraphicFramePr>
        <p:xfrm>
          <a:off x="1024128" y="16325379"/>
          <a:ext cx="19549872" cy="6562348"/>
        </p:xfrm>
        <a:graphic>
          <a:graphicData uri="http://schemas.openxmlformats.org/drawingml/2006/table">
            <a:tbl>
              <a:tblPr>
                <a:tableStyleId>{08FB837D-C827-4EFA-A057-4D05807E0F7C}</a:tableStyleId>
              </a:tblPr>
              <a:tblGrid>
                <a:gridCol w="8138533">
                  <a:extLst>
                    <a:ext uri="{9D8B030D-6E8A-4147-A177-3AD203B41FA5}">
                      <a16:colId xmlns:a16="http://schemas.microsoft.com/office/drawing/2014/main" val="2227418081"/>
                    </a:ext>
                  </a:extLst>
                </a:gridCol>
                <a:gridCol w="1636403">
                  <a:extLst>
                    <a:ext uri="{9D8B030D-6E8A-4147-A177-3AD203B41FA5}">
                      <a16:colId xmlns:a16="http://schemas.microsoft.com/office/drawing/2014/main" val="3713572183"/>
                    </a:ext>
                  </a:extLst>
                </a:gridCol>
                <a:gridCol w="4887468">
                  <a:extLst>
                    <a:ext uri="{9D8B030D-6E8A-4147-A177-3AD203B41FA5}">
                      <a16:colId xmlns:a16="http://schemas.microsoft.com/office/drawing/2014/main" val="883751037"/>
                    </a:ext>
                  </a:extLst>
                </a:gridCol>
                <a:gridCol w="4887468">
                  <a:extLst>
                    <a:ext uri="{9D8B030D-6E8A-4147-A177-3AD203B41FA5}">
                      <a16:colId xmlns:a16="http://schemas.microsoft.com/office/drawing/2014/main" val="3209527260"/>
                    </a:ext>
                  </a:extLst>
                </a:gridCol>
              </a:tblGrid>
              <a:tr h="1092507">
                <a:tc>
                  <a:txBody>
                    <a:bodyPr/>
                    <a:lstStyle/>
                    <a:p>
                      <a:r>
                        <a:rPr lang="en-US" sz="3400" b="1" dirty="0"/>
                        <a:t>Analysis: current vs planned TEFCA hospitals</a:t>
                      </a:r>
                    </a:p>
                  </a:txBody>
                  <a:tcPr anchor="ctr">
                    <a:lnL w="9525" cap="flat" cmpd="sng" algn="ctr">
                      <a:noFill/>
                      <a:prstDash val="solid"/>
                    </a:lnL>
                    <a:lnR w="9525" cap="flat" cmpd="sng" algn="ctr">
                      <a:noFill/>
                      <a:prstDash val="soli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l-GR" sz="3400" b="1" dirty="0"/>
                        <a:t>β</a:t>
                      </a:r>
                    </a:p>
                  </a:txBody>
                  <a:tcPr anchor="ctr">
                    <a:lnL w="9525" cap="flat" cmpd="sng" algn="ctr">
                      <a:noFill/>
                      <a:prstDash val="solid"/>
                    </a:lnL>
                    <a:lnR w="9525" cap="flat" cmpd="sng" algn="ctr">
                      <a:noFill/>
                      <a:prstDash val="soli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3400" b="1" dirty="0"/>
                        <a:t>95% CI</a:t>
                      </a:r>
                    </a:p>
                  </a:txBody>
                  <a:tcPr anchor="ctr">
                    <a:lnL w="9525" cap="flat" cmpd="sng" algn="ctr">
                      <a:noFill/>
                      <a:prstDash val="solid"/>
                    </a:lnL>
                    <a:lnR w="9525" cap="flat" cmpd="sng" algn="ctr">
                      <a:noFill/>
                      <a:prstDash val="soli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r>
                        <a:rPr lang="en-US" sz="3400" b="1" dirty="0"/>
                        <a:t>P-value</a:t>
                      </a:r>
                    </a:p>
                  </a:txBody>
                  <a:tcPr anchor="ctr">
                    <a:lnL w="9525" cap="flat" cmpd="sng" algn="ctr">
                      <a:noFill/>
                      <a:prstDash val="solid"/>
                    </a:lnL>
                    <a:lnR w="9525" cap="flat" cmpd="sng" algn="ctr">
                      <a:noFill/>
                      <a:prstDash val="solid"/>
                    </a:lnR>
                    <a:lnT w="9525" cap="flat" cmpd="sng" algn="ctr">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75766204"/>
                  </a:ext>
                </a:extLst>
              </a:tr>
              <a:tr h="1358647">
                <a:tc>
                  <a:txBody>
                    <a:bodyPr/>
                    <a:lstStyle/>
                    <a:p>
                      <a:r>
                        <a:rPr lang="en-US" sz="3400" dirty="0"/>
                        <a:t>Primary Hybrid HWM model</a:t>
                      </a:r>
                    </a:p>
                  </a:txBody>
                  <a:tcPr anchor="ctr">
                    <a:lnT w="12700" cap="flat" cmpd="sng" algn="ctr">
                      <a:solidFill>
                        <a:schemeClr val="tx1"/>
                      </a:solidFill>
                      <a:prstDash val="solid"/>
                      <a:round/>
                      <a:headEnd type="none" w="med" len="med"/>
                      <a:tailEnd type="none" w="med" len="med"/>
                    </a:lnT>
                  </a:tcPr>
                </a:tc>
                <a:tc>
                  <a:txBody>
                    <a:bodyPr/>
                    <a:lstStyle/>
                    <a:p>
                      <a:pPr algn="r"/>
                      <a:r>
                        <a:rPr lang="en-US" sz="3400" dirty="0"/>
                        <a:t>0.108</a:t>
                      </a:r>
                    </a:p>
                  </a:txBody>
                  <a:tcPr anchor="ctr">
                    <a:lnT w="12700" cap="flat" cmpd="sng" algn="ctr">
                      <a:solidFill>
                        <a:schemeClr val="tx1"/>
                      </a:solidFill>
                      <a:prstDash val="solid"/>
                      <a:round/>
                      <a:headEnd type="none" w="med" len="med"/>
                      <a:tailEnd type="none" w="med" len="med"/>
                    </a:lnT>
                  </a:tcPr>
                </a:tc>
                <a:tc>
                  <a:txBody>
                    <a:bodyPr/>
                    <a:lstStyle/>
                    <a:p>
                      <a:pPr algn="r"/>
                      <a:r>
                        <a:rPr lang="en-US" sz="3400" dirty="0"/>
                        <a:t>0.001 to 0.216</a:t>
                      </a:r>
                    </a:p>
                  </a:txBody>
                  <a:tcPr anchor="ctr">
                    <a:lnT w="12700" cap="flat" cmpd="sng" algn="ctr">
                      <a:solidFill>
                        <a:schemeClr val="tx1"/>
                      </a:solidFill>
                      <a:prstDash val="solid"/>
                      <a:round/>
                      <a:headEnd type="none" w="med" len="med"/>
                      <a:tailEnd type="none" w="med" len="med"/>
                    </a:lnT>
                  </a:tcPr>
                </a:tc>
                <a:tc>
                  <a:txBody>
                    <a:bodyPr/>
                    <a:lstStyle/>
                    <a:p>
                      <a:pPr algn="r"/>
                      <a:r>
                        <a:rPr lang="en-US" sz="3400" dirty="0"/>
                        <a:t>.047</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418659073"/>
                  </a:ext>
                </a:extLst>
              </a:tr>
              <a:tr h="1358647">
                <a:tc>
                  <a:txBody>
                    <a:bodyPr/>
                    <a:lstStyle/>
                    <a:p>
                      <a:r>
                        <a:rPr lang="en-US" sz="3400" dirty="0"/>
                        <a:t>Primary model, HC3 robust SEs</a:t>
                      </a:r>
                    </a:p>
                  </a:txBody>
                  <a:tcPr anchor="ctr"/>
                </a:tc>
                <a:tc>
                  <a:txBody>
                    <a:bodyPr/>
                    <a:lstStyle/>
                    <a:p>
                      <a:pPr algn="r"/>
                      <a:r>
                        <a:rPr lang="en-US" sz="3400" dirty="0"/>
                        <a:t>0.108</a:t>
                      </a:r>
                    </a:p>
                  </a:txBody>
                  <a:tcPr anchor="ctr"/>
                </a:tc>
                <a:tc>
                  <a:txBody>
                    <a:bodyPr/>
                    <a:lstStyle/>
                    <a:p>
                      <a:pPr algn="r"/>
                      <a:r>
                        <a:rPr lang="en-US" sz="3400" dirty="0"/>
                        <a:t>−0.010 to 0.227</a:t>
                      </a:r>
                    </a:p>
                  </a:txBody>
                  <a:tcPr anchor="ctr"/>
                </a:tc>
                <a:tc>
                  <a:txBody>
                    <a:bodyPr/>
                    <a:lstStyle/>
                    <a:p>
                      <a:pPr algn="r"/>
                      <a:r>
                        <a:rPr lang="en-US" sz="3400" dirty="0"/>
                        <a:t>.072</a:t>
                      </a:r>
                    </a:p>
                  </a:txBody>
                  <a:tcPr anchor="ctr"/>
                </a:tc>
                <a:extLst>
                  <a:ext uri="{0D108BD9-81ED-4DB2-BD59-A6C34878D82A}">
                    <a16:rowId xmlns:a16="http://schemas.microsoft.com/office/drawing/2014/main" val="2916942630"/>
                  </a:ext>
                </a:extLst>
              </a:tr>
              <a:tr h="1358647">
                <a:tc>
                  <a:txBody>
                    <a:bodyPr/>
                    <a:lstStyle/>
                    <a:p>
                      <a:r>
                        <a:rPr lang="en-US" sz="3400" dirty="0"/>
                        <a:t>Heart failure mortality</a:t>
                      </a:r>
                    </a:p>
                  </a:txBody>
                  <a:tcPr anchor="ctr"/>
                </a:tc>
                <a:tc>
                  <a:txBody>
                    <a:bodyPr/>
                    <a:lstStyle/>
                    <a:p>
                      <a:pPr algn="r"/>
                      <a:r>
                        <a:rPr lang="en-US" sz="3400" dirty="0"/>
                        <a:t>−0.024</a:t>
                      </a:r>
                    </a:p>
                  </a:txBody>
                  <a:tcPr anchor="ctr"/>
                </a:tc>
                <a:tc>
                  <a:txBody>
                    <a:bodyPr/>
                    <a:lstStyle/>
                    <a:p>
                      <a:pPr algn="r"/>
                      <a:r>
                        <a:rPr lang="en-US" sz="3400" dirty="0"/>
                        <a:t>−0.545 to 0.497</a:t>
                      </a:r>
                    </a:p>
                  </a:txBody>
                  <a:tcPr anchor="ctr"/>
                </a:tc>
                <a:tc>
                  <a:txBody>
                    <a:bodyPr/>
                    <a:lstStyle/>
                    <a:p>
                      <a:pPr algn="r"/>
                      <a:r>
                        <a:rPr lang="en-US" sz="3400" dirty="0"/>
                        <a:t>.927</a:t>
                      </a:r>
                    </a:p>
                  </a:txBody>
                  <a:tcPr anchor="ctr"/>
                </a:tc>
                <a:extLst>
                  <a:ext uri="{0D108BD9-81ED-4DB2-BD59-A6C34878D82A}">
                    <a16:rowId xmlns:a16="http://schemas.microsoft.com/office/drawing/2014/main" val="4042611858"/>
                  </a:ext>
                </a:extLst>
              </a:tr>
              <a:tr h="1358647">
                <a:tc>
                  <a:txBody>
                    <a:bodyPr/>
                    <a:lstStyle/>
                    <a:p>
                      <a:r>
                        <a:rPr lang="en-US" sz="3400" dirty="0"/>
                        <a:t>Pneumonia mortality</a:t>
                      </a:r>
                    </a:p>
                  </a:txBody>
                  <a:tcPr anchor="ctr"/>
                </a:tc>
                <a:tc>
                  <a:txBody>
                    <a:bodyPr/>
                    <a:lstStyle/>
                    <a:p>
                      <a:pPr algn="r"/>
                      <a:r>
                        <a:rPr lang="en-US" sz="3400" dirty="0"/>
                        <a:t>0.479</a:t>
                      </a:r>
                    </a:p>
                  </a:txBody>
                  <a:tcPr anchor="ctr"/>
                </a:tc>
                <a:tc>
                  <a:txBody>
                    <a:bodyPr/>
                    <a:lstStyle/>
                    <a:p>
                      <a:pPr algn="r"/>
                      <a:r>
                        <a:rPr lang="en-US" sz="3400" dirty="0"/>
                        <a:t>−0.115 to 1.073</a:t>
                      </a:r>
                    </a:p>
                  </a:txBody>
                  <a:tcPr anchor="ctr"/>
                </a:tc>
                <a:tc>
                  <a:txBody>
                    <a:bodyPr/>
                    <a:lstStyle/>
                    <a:p>
                      <a:pPr algn="r"/>
                      <a:r>
                        <a:rPr lang="en-US" sz="3400" dirty="0"/>
                        <a:t>.114</a:t>
                      </a:r>
                    </a:p>
                  </a:txBody>
                  <a:tcPr anchor="ctr"/>
                </a:tc>
                <a:extLst>
                  <a:ext uri="{0D108BD9-81ED-4DB2-BD59-A6C34878D82A}">
                    <a16:rowId xmlns:a16="http://schemas.microsoft.com/office/drawing/2014/main" val="4071906866"/>
                  </a:ext>
                </a:extLst>
              </a:tr>
            </a:tbl>
          </a:graphicData>
        </a:graphic>
      </p:graphicFrame>
      <p:sp>
        <p:nvSpPr>
          <p:cNvPr id="11" name="TextBox 10">
            <a:extLst>
              <a:ext uri="{FF2B5EF4-FFF2-40B4-BE49-F238E27FC236}">
                <a16:creationId xmlns:a16="http://schemas.microsoft.com/office/drawing/2014/main" id="{5B86F263-CCBD-8F74-7C4A-DA7AE3E35802}"/>
              </a:ext>
            </a:extLst>
          </p:cNvPr>
          <p:cNvSpPr txBox="1"/>
          <p:nvPr/>
        </p:nvSpPr>
        <p:spPr>
          <a:xfrm>
            <a:off x="365839" y="22962128"/>
            <a:ext cx="21652415" cy="584775"/>
          </a:xfrm>
          <a:prstGeom prst="rect">
            <a:avLst/>
          </a:prstGeom>
          <a:noFill/>
        </p:spPr>
        <p:txBody>
          <a:bodyPr wrap="square">
            <a:spAutoFit/>
          </a:bodyPr>
          <a:lstStyle/>
          <a:p>
            <a:r>
              <a:rPr lang="en-US" sz="3200" i="1" dirty="0"/>
              <a:t>Note. </a:t>
            </a:r>
            <a:r>
              <a:rPr lang="en-US" sz="3200" dirty="0"/>
              <a:t>Positive coefficients indicate higher mortality values; planned TEFCA participation was the reference category.</a:t>
            </a:r>
          </a:p>
        </p:txBody>
      </p:sp>
      <p:sp>
        <p:nvSpPr>
          <p:cNvPr id="16" name="TextBox 15">
            <a:extLst>
              <a:ext uri="{FF2B5EF4-FFF2-40B4-BE49-F238E27FC236}">
                <a16:creationId xmlns:a16="http://schemas.microsoft.com/office/drawing/2014/main" id="{74FE048F-31DE-1509-501D-9CA3376B31BF}"/>
              </a:ext>
            </a:extLst>
          </p:cNvPr>
          <p:cNvSpPr txBox="1"/>
          <p:nvPr/>
        </p:nvSpPr>
        <p:spPr>
          <a:xfrm>
            <a:off x="1257300" y="12469761"/>
            <a:ext cx="11201400" cy="584775"/>
          </a:xfrm>
          <a:prstGeom prst="rect">
            <a:avLst/>
          </a:prstGeom>
          <a:solidFill>
            <a:srgbClr val="E7F4F5"/>
          </a:solidFill>
          <a:ln>
            <a:solidFill>
              <a:schemeClr val="bg2">
                <a:lumMod val="40000"/>
                <a:lumOff val="60000"/>
              </a:schemeClr>
            </a:solidFill>
          </a:ln>
        </p:spPr>
        <p:txBody>
          <a:bodyPr wrap="square">
            <a:spAutoFit/>
          </a:bodyPr>
          <a:lstStyle/>
          <a:p>
            <a:r>
              <a:rPr lang="en-US" sz="3200" b="1" dirty="0"/>
              <a:t>TEFCA: Common Framework for Nationwide Exchange</a:t>
            </a:r>
          </a:p>
        </p:txBody>
      </p:sp>
      <p:sp>
        <p:nvSpPr>
          <p:cNvPr id="18" name="TextBox 17">
            <a:extLst>
              <a:ext uri="{FF2B5EF4-FFF2-40B4-BE49-F238E27FC236}">
                <a16:creationId xmlns:a16="http://schemas.microsoft.com/office/drawing/2014/main" id="{4D8920F3-11E9-EDDF-8C4B-DD0C8E7CB750}"/>
              </a:ext>
            </a:extLst>
          </p:cNvPr>
          <p:cNvSpPr txBox="1"/>
          <p:nvPr/>
        </p:nvSpPr>
        <p:spPr>
          <a:xfrm>
            <a:off x="2272008" y="23721812"/>
            <a:ext cx="9921240" cy="523220"/>
          </a:xfrm>
          <a:prstGeom prst="rect">
            <a:avLst/>
          </a:prstGeom>
          <a:noFill/>
        </p:spPr>
        <p:txBody>
          <a:bodyPr wrap="square">
            <a:spAutoFit/>
          </a:bodyPr>
          <a:lstStyle/>
          <a:p>
            <a:r>
              <a:rPr lang="en-US" sz="2800" b="1" dirty="0"/>
              <a:t>Figure 2. </a:t>
            </a:r>
            <a:r>
              <a:rPr lang="en-US" sz="2800" dirty="0"/>
              <a:t>Adjusted associations with Hybrid HWM</a:t>
            </a:r>
          </a:p>
        </p:txBody>
      </p:sp>
      <p:sp>
        <p:nvSpPr>
          <p:cNvPr id="41" name="Rectangle 40">
            <a:extLst>
              <a:ext uri="{FF2B5EF4-FFF2-40B4-BE49-F238E27FC236}">
                <a16:creationId xmlns:a16="http://schemas.microsoft.com/office/drawing/2014/main" id="{AA430F72-F0A3-C4C6-3143-C7E47E5CC028}"/>
              </a:ext>
            </a:extLst>
          </p:cNvPr>
          <p:cNvSpPr/>
          <p:nvPr/>
        </p:nvSpPr>
        <p:spPr bwMode="auto">
          <a:xfrm>
            <a:off x="3200400" y="13290842"/>
            <a:ext cx="1589352" cy="623678"/>
          </a:xfrm>
          <a:prstGeom prst="rect">
            <a:avLst/>
          </a:prstGeom>
          <a:solidFill>
            <a:srgbClr val="FFE79B"/>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135313"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Arial" charset="0"/>
              </a:rPr>
              <a:t>QHIN 1</a:t>
            </a:r>
          </a:p>
        </p:txBody>
      </p:sp>
      <p:cxnSp>
        <p:nvCxnSpPr>
          <p:cNvPr id="43" name="Straight Arrow Connector 42">
            <a:extLst>
              <a:ext uri="{FF2B5EF4-FFF2-40B4-BE49-F238E27FC236}">
                <a16:creationId xmlns:a16="http://schemas.microsoft.com/office/drawing/2014/main" id="{05BDB7AD-1FB8-6389-E3C0-6AE43F16E298}"/>
              </a:ext>
            </a:extLst>
          </p:cNvPr>
          <p:cNvCxnSpPr>
            <a:cxnSpLocks/>
          </p:cNvCxnSpPr>
          <p:nvPr/>
        </p:nvCxnSpPr>
        <p:spPr bwMode="auto">
          <a:xfrm>
            <a:off x="5125280" y="13602681"/>
            <a:ext cx="685800" cy="0"/>
          </a:xfrm>
          <a:prstGeom prst="straightConnector1">
            <a:avLst/>
          </a:prstGeom>
          <a:ln>
            <a:headEnd type="arrow" w="med" len="med"/>
            <a:tailEnd type="arrow" w="med" len="med"/>
          </a:ln>
        </p:spPr>
        <p:style>
          <a:lnRef idx="3">
            <a:schemeClr val="accent3"/>
          </a:lnRef>
          <a:fillRef idx="0">
            <a:schemeClr val="accent3"/>
          </a:fillRef>
          <a:effectRef idx="2">
            <a:schemeClr val="accent3"/>
          </a:effectRef>
          <a:fontRef idx="minor">
            <a:schemeClr val="tx1"/>
          </a:fontRef>
        </p:style>
      </p:cxnSp>
      <p:sp>
        <p:nvSpPr>
          <p:cNvPr id="49" name="Rectangle 48">
            <a:extLst>
              <a:ext uri="{FF2B5EF4-FFF2-40B4-BE49-F238E27FC236}">
                <a16:creationId xmlns:a16="http://schemas.microsoft.com/office/drawing/2014/main" id="{92DA4AB8-32F5-8A8D-59CF-B9D79A7BC59B}"/>
              </a:ext>
            </a:extLst>
          </p:cNvPr>
          <p:cNvSpPr/>
          <p:nvPr/>
        </p:nvSpPr>
        <p:spPr bwMode="auto">
          <a:xfrm>
            <a:off x="6152933" y="13315017"/>
            <a:ext cx="1717621" cy="623677"/>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135313"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Arial" charset="0"/>
              </a:rPr>
              <a:t>QHIN 2</a:t>
            </a:r>
          </a:p>
        </p:txBody>
      </p:sp>
      <p:sp>
        <p:nvSpPr>
          <p:cNvPr id="50" name="Rectangle 49">
            <a:extLst>
              <a:ext uri="{FF2B5EF4-FFF2-40B4-BE49-F238E27FC236}">
                <a16:creationId xmlns:a16="http://schemas.microsoft.com/office/drawing/2014/main" id="{1D544CF1-B90D-8C60-D389-B72F777172D5}"/>
              </a:ext>
            </a:extLst>
          </p:cNvPr>
          <p:cNvSpPr/>
          <p:nvPr/>
        </p:nvSpPr>
        <p:spPr bwMode="auto">
          <a:xfrm>
            <a:off x="9171834" y="13339809"/>
            <a:ext cx="1717621" cy="600784"/>
          </a:xfrm>
          <a:prstGeom prst="rect">
            <a:avLst/>
          </a:prstGeom>
          <a:solidFill>
            <a:srgbClr val="CAE8A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135313" rtl="0" eaLnBrk="1" fontAlgn="base" latinLnBrk="0" hangingPunct="1">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Arial" charset="0"/>
              </a:rPr>
              <a:t>QHIN 3</a:t>
            </a:r>
          </a:p>
        </p:txBody>
      </p:sp>
      <p:cxnSp>
        <p:nvCxnSpPr>
          <p:cNvPr id="51" name="Straight Arrow Connector 50">
            <a:extLst>
              <a:ext uri="{FF2B5EF4-FFF2-40B4-BE49-F238E27FC236}">
                <a16:creationId xmlns:a16="http://schemas.microsoft.com/office/drawing/2014/main" id="{B9FF13B0-C6A4-C88B-D80E-C659E1674CD3}"/>
              </a:ext>
            </a:extLst>
          </p:cNvPr>
          <p:cNvCxnSpPr>
            <a:cxnSpLocks/>
          </p:cNvCxnSpPr>
          <p:nvPr/>
        </p:nvCxnSpPr>
        <p:spPr bwMode="auto">
          <a:xfrm>
            <a:off x="8097080" y="13602681"/>
            <a:ext cx="801011" cy="0"/>
          </a:xfrm>
          <a:prstGeom prst="straightConnector1">
            <a:avLst/>
          </a:prstGeom>
          <a:ln>
            <a:headEnd type="arrow" w="med" len="med"/>
            <a:tailEnd type="arrow" w="med" len="med"/>
          </a:ln>
        </p:spPr>
        <p:style>
          <a:lnRef idx="3">
            <a:schemeClr val="accent3"/>
          </a:lnRef>
          <a:fillRef idx="0">
            <a:schemeClr val="accent3"/>
          </a:fillRef>
          <a:effectRef idx="2">
            <a:schemeClr val="accent3"/>
          </a:effectRef>
          <a:fontRef idx="minor">
            <a:schemeClr val="tx1"/>
          </a:fontRef>
        </p:style>
      </p:cxnSp>
      <p:sp>
        <p:nvSpPr>
          <p:cNvPr id="53" name="TextBox 52">
            <a:extLst>
              <a:ext uri="{FF2B5EF4-FFF2-40B4-BE49-F238E27FC236}">
                <a16:creationId xmlns:a16="http://schemas.microsoft.com/office/drawing/2014/main" id="{52E971C5-2597-B2AA-3A23-EAE3947F795E}"/>
              </a:ext>
            </a:extLst>
          </p:cNvPr>
          <p:cNvSpPr txBox="1"/>
          <p:nvPr/>
        </p:nvSpPr>
        <p:spPr>
          <a:xfrm>
            <a:off x="429768" y="14141449"/>
            <a:ext cx="13222224" cy="584775"/>
          </a:xfrm>
          <a:prstGeom prst="rect">
            <a:avLst/>
          </a:prstGeom>
          <a:solidFill>
            <a:srgbClr val="E7F4F5"/>
          </a:solidFill>
        </p:spPr>
        <p:txBody>
          <a:bodyPr wrap="square">
            <a:spAutoFit/>
          </a:bodyPr>
          <a:lstStyle/>
          <a:p>
            <a:r>
              <a:rPr lang="en-US" sz="3200" b="1" dirty="0"/>
              <a:t>Hospitals, HIOs, and EHR/vendor networks connect through QHINs</a:t>
            </a:r>
          </a:p>
        </p:txBody>
      </p:sp>
      <p:sp>
        <p:nvSpPr>
          <p:cNvPr id="61" name="TextBox 60">
            <a:extLst>
              <a:ext uri="{FF2B5EF4-FFF2-40B4-BE49-F238E27FC236}">
                <a16:creationId xmlns:a16="http://schemas.microsoft.com/office/drawing/2014/main" id="{2EDA1001-BDAB-96D5-C6E6-759B2635D8C1}"/>
              </a:ext>
            </a:extLst>
          </p:cNvPr>
          <p:cNvSpPr txBox="1"/>
          <p:nvPr/>
        </p:nvSpPr>
        <p:spPr>
          <a:xfrm>
            <a:off x="1895441" y="15727758"/>
            <a:ext cx="21945600" cy="523220"/>
          </a:xfrm>
          <a:prstGeom prst="rect">
            <a:avLst/>
          </a:prstGeom>
          <a:noFill/>
        </p:spPr>
        <p:txBody>
          <a:bodyPr wrap="square">
            <a:spAutoFit/>
          </a:bodyPr>
          <a:lstStyle/>
          <a:p>
            <a:r>
              <a:rPr lang="en-US" sz="2800" b="1" dirty="0"/>
              <a:t>Table 1. </a:t>
            </a:r>
            <a:r>
              <a:rPr lang="en-US" sz="2800" dirty="0"/>
              <a:t>TEFCA Participation Estimates Across Mortality Analyses</a:t>
            </a:r>
          </a:p>
        </p:txBody>
      </p:sp>
      <p:sp>
        <p:nvSpPr>
          <p:cNvPr id="1025" name="TextBox 1024">
            <a:extLst>
              <a:ext uri="{FF2B5EF4-FFF2-40B4-BE49-F238E27FC236}">
                <a16:creationId xmlns:a16="http://schemas.microsoft.com/office/drawing/2014/main" id="{1A4C4739-BF4A-89E8-7CF5-5DB5D1B45FAE}"/>
              </a:ext>
            </a:extLst>
          </p:cNvPr>
          <p:cNvSpPr txBox="1"/>
          <p:nvPr/>
        </p:nvSpPr>
        <p:spPr>
          <a:xfrm>
            <a:off x="35309164" y="6262867"/>
            <a:ext cx="7777363" cy="5847755"/>
          </a:xfrm>
          <a:prstGeom prst="rect">
            <a:avLst/>
          </a:prstGeom>
          <a:noFill/>
        </p:spPr>
        <p:txBody>
          <a:bodyPr wrap="square">
            <a:spAutoFit/>
          </a:bodyPr>
          <a:lstStyle/>
          <a:p>
            <a:r>
              <a:rPr lang="en-US" sz="3400" b="1" dirty="0"/>
              <a:t>Robustness and secondary outcomes</a:t>
            </a:r>
            <a:r>
              <a:rPr lang="en-US" sz="3400" dirty="0"/>
              <a:t>. With HC3 robust standard errors, the confidence interval included zero (95% CI, −0.010–0.227; </a:t>
            </a:r>
            <a:r>
              <a:rPr lang="en-US" sz="3400" i="1" dirty="0"/>
              <a:t>p</a:t>
            </a:r>
            <a:r>
              <a:rPr lang="en-US" sz="3400" dirty="0"/>
              <a:t> = .072). Current-versus-planned estimates were also not significant for heart failure (</a:t>
            </a:r>
            <a:r>
              <a:rPr lang="el-GR" sz="3400" dirty="0"/>
              <a:t>β = −0.024; </a:t>
            </a:r>
            <a:r>
              <a:rPr lang="en-US" sz="3400" i="1" dirty="0"/>
              <a:t>p</a:t>
            </a:r>
            <a:r>
              <a:rPr lang="en-US" sz="3400" dirty="0"/>
              <a:t> = .927) or pneumonia mortality (</a:t>
            </a:r>
            <a:r>
              <a:rPr lang="el-GR" sz="3400" dirty="0"/>
              <a:t>β = 0.479; </a:t>
            </a:r>
            <a:r>
              <a:rPr lang="en-US" sz="3400" i="1" dirty="0"/>
              <a:t>p</a:t>
            </a:r>
            <a:r>
              <a:rPr lang="en-US" sz="3400" dirty="0"/>
              <a:t> = .114). EHR vendor-network participation and larger CMS denominators were associated with lower Hybrid HWM scores.</a:t>
            </a:r>
          </a:p>
        </p:txBody>
      </p:sp>
      <p:sp>
        <p:nvSpPr>
          <p:cNvPr id="1033" name="TextBox 1032">
            <a:extLst>
              <a:ext uri="{FF2B5EF4-FFF2-40B4-BE49-F238E27FC236}">
                <a16:creationId xmlns:a16="http://schemas.microsoft.com/office/drawing/2014/main" id="{FDB23A6E-5FE5-7133-FBB7-85483EC23619}"/>
              </a:ext>
            </a:extLst>
          </p:cNvPr>
          <p:cNvSpPr txBox="1"/>
          <p:nvPr/>
        </p:nvSpPr>
        <p:spPr>
          <a:xfrm>
            <a:off x="26590752" y="12635211"/>
            <a:ext cx="16568928" cy="1569660"/>
          </a:xfrm>
          <a:prstGeom prst="rect">
            <a:avLst/>
          </a:prstGeom>
          <a:solidFill>
            <a:srgbClr val="E7F4F5"/>
          </a:solidFill>
        </p:spPr>
        <p:txBody>
          <a:bodyPr wrap="square">
            <a:spAutoFit/>
          </a:bodyPr>
          <a:lstStyle/>
          <a:p>
            <a:r>
              <a:rPr lang="en-US" sz="3200" b="1" dirty="0"/>
              <a:t>Key finding: The analyses did not provide robust evidence that early current TEFCA participation was associated with lower hospital mortality than planned participation.</a:t>
            </a:r>
          </a:p>
        </p:txBody>
      </p:sp>
      <p:sp>
        <p:nvSpPr>
          <p:cNvPr id="1039" name="TextBox 1038">
            <a:extLst>
              <a:ext uri="{FF2B5EF4-FFF2-40B4-BE49-F238E27FC236}">
                <a16:creationId xmlns:a16="http://schemas.microsoft.com/office/drawing/2014/main" id="{E0E0A4BE-228B-5BEB-54BA-52C613362C28}"/>
              </a:ext>
            </a:extLst>
          </p:cNvPr>
          <p:cNvSpPr txBox="1"/>
          <p:nvPr/>
        </p:nvSpPr>
        <p:spPr>
          <a:xfrm>
            <a:off x="365760" y="31841182"/>
            <a:ext cx="20711159" cy="1077218"/>
          </a:xfrm>
          <a:prstGeom prst="rect">
            <a:avLst/>
          </a:prstGeom>
          <a:noFill/>
        </p:spPr>
        <p:txBody>
          <a:bodyPr wrap="square">
            <a:spAutoFit/>
          </a:bodyPr>
          <a:lstStyle/>
          <a:p>
            <a:r>
              <a:rPr lang="en-US" sz="3200" i="1" dirty="0"/>
              <a:t>Note. </a:t>
            </a:r>
            <a:r>
              <a:rPr lang="en-US" sz="3200" dirty="0"/>
              <a:t>Points represent adjusted OLS coefficients; error bars represent 95% confidence intervals. Planned TEFCA participation was the reference category.</a:t>
            </a:r>
          </a:p>
        </p:txBody>
      </p:sp>
      <p:pic>
        <p:nvPicPr>
          <p:cNvPr id="1047" name="Picture 1046" descr="A diagram of a graph">
            <a:extLst>
              <a:ext uri="{FF2B5EF4-FFF2-40B4-BE49-F238E27FC236}">
                <a16:creationId xmlns:a16="http://schemas.microsoft.com/office/drawing/2014/main" id="{6FBF83FE-A523-C94A-B37B-73F96AF7A59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95441" y="24262248"/>
            <a:ext cx="17807246" cy="7631676"/>
          </a:xfrm>
          <a:prstGeom prst="rect">
            <a:avLst/>
          </a:prstGeom>
        </p:spPr>
      </p:pic>
      <p:pic>
        <p:nvPicPr>
          <p:cNvPr id="1054" name="Graphic 1053">
            <a:extLst>
              <a:ext uri="{FF2B5EF4-FFF2-40B4-BE49-F238E27FC236}">
                <a16:creationId xmlns:a16="http://schemas.microsoft.com/office/drawing/2014/main" id="{758EA137-C048-0225-7DCD-24A1F8C2EFE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985643" y="2702148"/>
            <a:ext cx="1927156" cy="1927156"/>
          </a:xfrm>
          <a:prstGeom prst="rect">
            <a:avLst/>
          </a:prstGeom>
        </p:spPr>
      </p:pic>
      <p:sp>
        <p:nvSpPr>
          <p:cNvPr id="1056" name="TextBox 1055">
            <a:extLst>
              <a:ext uri="{FF2B5EF4-FFF2-40B4-BE49-F238E27FC236}">
                <a16:creationId xmlns:a16="http://schemas.microsoft.com/office/drawing/2014/main" id="{F140CDA7-5B52-B7EA-8E16-C3C4D6246264}"/>
              </a:ext>
            </a:extLst>
          </p:cNvPr>
          <p:cNvSpPr txBox="1"/>
          <p:nvPr/>
        </p:nvSpPr>
        <p:spPr>
          <a:xfrm>
            <a:off x="34269236" y="4629631"/>
            <a:ext cx="5429571" cy="507831"/>
          </a:xfrm>
          <a:prstGeom prst="rect">
            <a:avLst/>
          </a:prstGeom>
          <a:noFill/>
        </p:spPr>
        <p:txBody>
          <a:bodyPr wrap="square">
            <a:spAutoFit/>
          </a:bodyPr>
          <a:lstStyle/>
          <a:p>
            <a:r>
              <a:rPr lang="en-US" sz="2700" dirty="0">
                <a:solidFill>
                  <a:schemeClr val="bg1"/>
                </a:solidFill>
              </a:rPr>
              <a:t>Code, methods, and materials</a:t>
            </a:r>
          </a:p>
        </p:txBody>
      </p:sp>
      <p:pic>
        <p:nvPicPr>
          <p:cNvPr id="1064" name="Picture 1063" descr="A diagram of a medical procedure">
            <a:extLst>
              <a:ext uri="{FF2B5EF4-FFF2-40B4-BE49-F238E27FC236}">
                <a16:creationId xmlns:a16="http://schemas.microsoft.com/office/drawing/2014/main" id="{5D15A370-C4E4-A783-B6E2-F2E3FA2DD4C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164449" y="6728346"/>
            <a:ext cx="11889384" cy="4816957"/>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6&quot;/&gt;&lt;/object&gt;&lt;/object&gt;&lt;/object&gt;&lt;/database&gt;"/>
  <p:tag name="SECTOMILLISECCONVERTED" val="1"/>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135313" rtl="0" eaLnBrk="1" fontAlgn="base" latinLnBrk="0" hangingPunct="1">
          <a:lnSpc>
            <a:spcPct val="100000"/>
          </a:lnSpc>
          <a:spcBef>
            <a:spcPct val="0"/>
          </a:spcBef>
          <a:spcAft>
            <a:spcPct val="0"/>
          </a:spcAft>
          <a:buClrTx/>
          <a:buSzTx/>
          <a:buFontTx/>
          <a:buNone/>
          <a:tabLst/>
          <a:defRPr kumimoji="0" lang="en-US" sz="62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135313" rtl="0" eaLnBrk="1" fontAlgn="base" latinLnBrk="0" hangingPunct="1">
          <a:lnSpc>
            <a:spcPct val="100000"/>
          </a:lnSpc>
          <a:spcBef>
            <a:spcPct val="0"/>
          </a:spcBef>
          <a:spcAft>
            <a:spcPct val="0"/>
          </a:spcAft>
          <a:buClrTx/>
          <a:buSzTx/>
          <a:buFontTx/>
          <a:buNone/>
          <a:tabLst/>
          <a:defRPr kumimoji="0" lang="en-US" sz="62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2256</TotalTime>
  <Words>921</Words>
  <Application>Microsoft Office PowerPoint</Application>
  <PresentationFormat>Custom</PresentationFormat>
  <Paragraphs>69</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Default Design</vt:lpstr>
      <vt:lpstr>PowerPoint Presentation</vt:lpstr>
    </vt:vector>
  </TitlesOfParts>
  <Company>Texas Woman's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UTHealth SON</dc:creator>
  <cp:lastModifiedBy>Pulaski, Jordan A</cp:lastModifiedBy>
  <cp:revision>98</cp:revision>
  <dcterms:created xsi:type="dcterms:W3CDTF">2002-12-20T21:18:36Z</dcterms:created>
  <dcterms:modified xsi:type="dcterms:W3CDTF">2026-07-27T09:13:03Z</dcterms:modified>
</cp:coreProperties>
</file>